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73" d="100"/>
          <a:sy n="73" d="100"/>
        </p:scale>
        <p:origin x="-1104"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3/5/2019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828800"/>
            <a:ext cx="7772400" cy="1470025"/>
          </a:xfrm>
        </p:spPr>
        <p:txBody>
          <a:bodyPr>
            <a:normAutofit/>
          </a:bodyPr>
          <a:lstStyle/>
          <a:p>
            <a:r>
              <a:rPr lang="en-US" sz="4800" dirty="0" smtClean="0">
                <a:solidFill>
                  <a:srgbClr val="FF0000"/>
                </a:solidFill>
                <a:latin typeface="Times New Roman" pitchFamily="18" charset="0"/>
                <a:cs typeface="Times New Roman" pitchFamily="18" charset="0"/>
              </a:rPr>
              <a:t>Unit-4</a:t>
            </a:r>
            <a:endParaRPr lang="en-US" sz="4800"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4876800" y="3124200"/>
            <a:ext cx="3810000" cy="1066800"/>
          </a:xfrm>
        </p:spPr>
        <p:txBody>
          <a:bodyPr>
            <a:normAutofit/>
          </a:bodyPr>
          <a:lstStyle/>
          <a:p>
            <a:r>
              <a:rPr lang="en-US" sz="2800" dirty="0" smtClean="0">
                <a:solidFill>
                  <a:srgbClr val="002060"/>
                </a:solidFill>
                <a:latin typeface="Times New Roman" pitchFamily="18" charset="0"/>
                <a:cs typeface="Times New Roman" pitchFamily="18" charset="0"/>
              </a:rPr>
              <a:t>Software engineering</a:t>
            </a:r>
            <a:endParaRPr lang="en-US" sz="2800" dirty="0">
              <a:solidFill>
                <a:srgbClr val="002060"/>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762000"/>
            <a:ext cx="8382000" cy="4876800"/>
          </a:xfrm>
        </p:spPr>
        <p:txBody>
          <a:bodyPr/>
          <a:lstStyle/>
          <a:p>
            <a:pPr>
              <a:buNone/>
            </a:pPr>
            <a:r>
              <a:rPr lang="en-US" dirty="0" smtClean="0">
                <a:solidFill>
                  <a:srgbClr val="FF0000"/>
                </a:solidFill>
                <a:latin typeface="Times New Roman" pitchFamily="18" charset="0"/>
                <a:cs typeface="Times New Roman" pitchFamily="18" charset="0"/>
              </a:rPr>
              <a:t>List of Contents</a:t>
            </a:r>
          </a:p>
          <a:p>
            <a:pPr>
              <a:buNone/>
            </a:pPr>
            <a:endParaRPr lang="en-US" dirty="0" smtClean="0">
              <a:solidFill>
                <a:srgbClr val="FF0000"/>
              </a:solidFill>
              <a:latin typeface="Times New Roman" pitchFamily="18" charset="0"/>
              <a:cs typeface="Times New Roman" pitchFamily="18" charset="0"/>
            </a:endParaRPr>
          </a:p>
          <a:p>
            <a:pPr lvl="1">
              <a:buClr>
                <a:srgbClr val="002060"/>
              </a:buClr>
              <a:buFont typeface="Wingdings" pitchFamily="2" charset="2"/>
              <a:buChar char="Ø"/>
            </a:pPr>
            <a:r>
              <a:rPr lang="en-US" dirty="0" smtClean="0">
                <a:latin typeface="Times New Roman" pitchFamily="18" charset="0"/>
                <a:cs typeface="Times New Roman" pitchFamily="18" charset="0"/>
              </a:rPr>
              <a:t>Implementation</a:t>
            </a:r>
          </a:p>
          <a:p>
            <a:pPr lvl="1">
              <a:buClr>
                <a:srgbClr val="002060"/>
              </a:buClr>
              <a:buFont typeface="Wingdings" pitchFamily="2" charset="2"/>
              <a:buChar char="Ø"/>
            </a:pPr>
            <a:r>
              <a:rPr lang="en-US" dirty="0" smtClean="0">
                <a:latin typeface="Times New Roman" pitchFamily="18" charset="0"/>
                <a:cs typeface="Times New Roman" pitchFamily="18" charset="0"/>
              </a:rPr>
              <a:t>Coding Standard and Guidelines</a:t>
            </a:r>
          </a:p>
          <a:p>
            <a:pPr lvl="1">
              <a:buClr>
                <a:srgbClr val="002060"/>
              </a:buClr>
              <a:buFont typeface="Wingdings" pitchFamily="2" charset="2"/>
              <a:buChar char="Ø"/>
            </a:pPr>
            <a:r>
              <a:rPr lang="en-US" dirty="0" smtClean="0">
                <a:latin typeface="Times New Roman" pitchFamily="18" charset="0"/>
                <a:cs typeface="Times New Roman" pitchFamily="18" charset="0"/>
              </a:rPr>
              <a:t>Review</a:t>
            </a:r>
          </a:p>
          <a:p>
            <a:pPr lvl="1">
              <a:buClr>
                <a:srgbClr val="002060"/>
              </a:buClr>
              <a:buFont typeface="Wingdings" pitchFamily="2" charset="2"/>
              <a:buChar char="Ø"/>
            </a:pPr>
            <a:r>
              <a:rPr lang="en-US" dirty="0" smtClean="0">
                <a:latin typeface="Times New Roman" pitchFamily="18" charset="0"/>
                <a:cs typeface="Times New Roman" pitchFamily="18" charset="0"/>
              </a:rPr>
              <a:t>Unit Testing </a:t>
            </a:r>
          </a:p>
          <a:p>
            <a:pPr lvl="1">
              <a:buClr>
                <a:srgbClr val="002060"/>
              </a:buClr>
              <a:buFont typeface="Wingdings" pitchFamily="2" charset="2"/>
              <a:buChar char="Ø"/>
            </a:pPr>
            <a:r>
              <a:rPr lang="en-US" dirty="0" smtClean="0">
                <a:latin typeface="Times New Roman" pitchFamily="18" charset="0"/>
                <a:cs typeface="Times New Roman" pitchFamily="18" charset="0"/>
              </a:rPr>
              <a:t>Verification and</a:t>
            </a:r>
          </a:p>
          <a:p>
            <a:pPr lvl="1">
              <a:buClr>
                <a:srgbClr val="002060"/>
              </a:buClr>
              <a:buFont typeface="Wingdings" pitchFamily="2" charset="2"/>
              <a:buChar char="Ø"/>
            </a:pPr>
            <a:r>
              <a:rPr lang="en-US" dirty="0" smtClean="0">
                <a:latin typeface="Times New Roman" pitchFamily="18" charset="0"/>
                <a:cs typeface="Times New Roman" pitchFamily="18" charset="0"/>
              </a:rPr>
              <a:t>Validation</a:t>
            </a:r>
            <a:endParaRPr 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05000" y="228600"/>
            <a:ext cx="5638800" cy="381000"/>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Implementation</a:t>
            </a:r>
            <a:r>
              <a:rPr lang="en-US" dirty="0" smtClean="0">
                <a:solidFill>
                  <a:srgbClr val="FF0000"/>
                </a:solidFill>
                <a:latin typeface="Times New Roman" pitchFamily="18" charset="0"/>
                <a:cs typeface="Times New Roman" pitchFamily="18" charset="0"/>
              </a:rPr>
              <a:t/>
            </a:r>
            <a:br>
              <a:rPr lang="en-US" dirty="0" smtClean="0">
                <a:solidFill>
                  <a:srgbClr val="FF0000"/>
                </a:solidFill>
                <a:latin typeface="Times New Roman" pitchFamily="18" charset="0"/>
                <a:cs typeface="Times New Roman" pitchFamily="18" charset="0"/>
              </a:rPr>
            </a:br>
            <a:endParaRPr lang="en-US" dirty="0">
              <a:solidFill>
                <a:srgbClr val="FF0000"/>
              </a:solidFill>
            </a:endParaRPr>
          </a:p>
        </p:txBody>
      </p:sp>
      <p:sp>
        <p:nvSpPr>
          <p:cNvPr id="4" name="Content Placeholder 3"/>
          <p:cNvSpPr>
            <a:spLocks noGrp="1"/>
          </p:cNvSpPr>
          <p:nvPr>
            <p:ph idx="1"/>
          </p:nvPr>
        </p:nvSpPr>
        <p:spPr>
          <a:xfrm>
            <a:off x="304800" y="762000"/>
            <a:ext cx="8534400" cy="5791200"/>
          </a:xfrm>
        </p:spPr>
        <p:txBody>
          <a:bodyPr>
            <a:normAutofit/>
          </a:bodyPr>
          <a:lstStyle/>
          <a:p>
            <a:r>
              <a:rPr lang="en-US" sz="2800" dirty="0" smtClean="0">
                <a:latin typeface="Times New Roman" pitchFamily="18" charset="0"/>
                <a:cs typeface="Times New Roman" pitchFamily="18" charset="0"/>
              </a:rPr>
              <a:t>During the implementation phase, the software engineer translates the design specifications into source codes in some programming languages.</a:t>
            </a:r>
          </a:p>
          <a:p>
            <a:pPr>
              <a:buNone/>
            </a:pP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Implementation is the software development phase that effects the testing and maintenance activities.</a:t>
            </a:r>
          </a:p>
          <a:p>
            <a:pPr>
              <a:buNone/>
            </a:pP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 the main goal of implementation is to produce quality source codes that can reduce the cost of testing and maintenance .</a:t>
            </a:r>
            <a:endParaRPr lang="en-US" sz="28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05000" y="228600"/>
            <a:ext cx="5638800" cy="381000"/>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Implementation</a:t>
            </a:r>
            <a:r>
              <a:rPr lang="en-US" dirty="0" smtClean="0">
                <a:solidFill>
                  <a:srgbClr val="FF0000"/>
                </a:solidFill>
                <a:latin typeface="Times New Roman" pitchFamily="18" charset="0"/>
                <a:cs typeface="Times New Roman" pitchFamily="18" charset="0"/>
              </a:rPr>
              <a:t/>
            </a:r>
            <a:br>
              <a:rPr lang="en-US" dirty="0" smtClean="0">
                <a:solidFill>
                  <a:srgbClr val="FF0000"/>
                </a:solidFill>
                <a:latin typeface="Times New Roman" pitchFamily="18" charset="0"/>
                <a:cs typeface="Times New Roman" pitchFamily="18" charset="0"/>
              </a:rPr>
            </a:br>
            <a:endParaRPr lang="en-US" dirty="0">
              <a:solidFill>
                <a:srgbClr val="FF0000"/>
              </a:solidFill>
            </a:endParaRPr>
          </a:p>
        </p:txBody>
      </p:sp>
      <p:sp>
        <p:nvSpPr>
          <p:cNvPr id="4" name="Content Placeholder 3"/>
          <p:cNvSpPr>
            <a:spLocks noGrp="1"/>
          </p:cNvSpPr>
          <p:nvPr>
            <p:ph idx="1"/>
          </p:nvPr>
        </p:nvSpPr>
        <p:spPr>
          <a:xfrm>
            <a:off x="304800" y="762000"/>
            <a:ext cx="8534400" cy="5791200"/>
          </a:xfrm>
        </p:spPr>
        <p:txBody>
          <a:bodyPr>
            <a:normAutofit/>
          </a:bodyPr>
          <a:lstStyle/>
          <a:p>
            <a:pPr>
              <a:buNone/>
            </a:pPr>
            <a:r>
              <a:rPr lang="en-US" sz="3600" dirty="0" smtClean="0">
                <a:solidFill>
                  <a:srgbClr val="FF0000"/>
                </a:solidFill>
                <a:latin typeface="Times New Roman" pitchFamily="18" charset="0"/>
                <a:cs typeface="Times New Roman" pitchFamily="18" charset="0"/>
              </a:rPr>
              <a:t>1) Coding principles</a:t>
            </a:r>
          </a:p>
          <a:p>
            <a:pPr lvl="1"/>
            <a:r>
              <a:rPr lang="en-US" sz="2400" dirty="0" smtClean="0">
                <a:latin typeface="Times New Roman" pitchFamily="18" charset="0"/>
                <a:cs typeface="Times New Roman" pitchFamily="18" charset="0"/>
              </a:rPr>
              <a:t>Information hiding</a:t>
            </a:r>
          </a:p>
          <a:p>
            <a:pPr lvl="1"/>
            <a:r>
              <a:rPr lang="en-US" sz="2400" dirty="0" smtClean="0">
                <a:latin typeface="Times New Roman" pitchFamily="18" charset="0"/>
                <a:cs typeface="Times New Roman" pitchFamily="18" charset="0"/>
              </a:rPr>
              <a:t>Structure programming features</a:t>
            </a:r>
          </a:p>
          <a:p>
            <a:pPr lvl="1"/>
            <a:r>
              <a:rPr lang="en-US" sz="2400" dirty="0" smtClean="0">
                <a:latin typeface="Times New Roman" pitchFamily="18" charset="0"/>
                <a:cs typeface="Times New Roman" pitchFamily="18" charset="0"/>
              </a:rPr>
              <a:t>Maximize Cohesion and Minimize Coupling</a:t>
            </a:r>
          </a:p>
          <a:p>
            <a:pPr lvl="1"/>
            <a:r>
              <a:rPr lang="en-US" sz="2400" dirty="0" smtClean="0">
                <a:latin typeface="Times New Roman" pitchFamily="18" charset="0"/>
                <a:cs typeface="Times New Roman" pitchFamily="18" charset="0"/>
              </a:rPr>
              <a:t>Code Reusability</a:t>
            </a:r>
          </a:p>
          <a:p>
            <a:pPr lvl="1"/>
            <a:r>
              <a:rPr lang="en-US" sz="2400" dirty="0" smtClean="0">
                <a:latin typeface="Times New Roman" pitchFamily="18" charset="0"/>
                <a:cs typeface="Times New Roman" pitchFamily="18" charset="0"/>
              </a:rPr>
              <a:t>KISS(Keep It Simple, Stupid)</a:t>
            </a:r>
          </a:p>
          <a:p>
            <a:pPr lvl="1"/>
            <a:r>
              <a:rPr lang="en-US" sz="2400" dirty="0" smtClean="0">
                <a:latin typeface="Times New Roman" pitchFamily="18" charset="0"/>
                <a:cs typeface="Times New Roman" pitchFamily="18" charset="0"/>
              </a:rPr>
              <a:t>Simplicity, Extensibility, and Effortlessness</a:t>
            </a:r>
          </a:p>
          <a:p>
            <a:pPr lvl="1"/>
            <a:r>
              <a:rPr lang="en-US" sz="2400" dirty="0" smtClean="0">
                <a:latin typeface="Times New Roman" pitchFamily="18" charset="0"/>
                <a:cs typeface="Times New Roman" pitchFamily="18" charset="0"/>
              </a:rPr>
              <a:t>Code Verification</a:t>
            </a:r>
          </a:p>
          <a:p>
            <a:pPr lvl="1"/>
            <a:r>
              <a:rPr lang="en-US" sz="2400" dirty="0" smtClean="0">
                <a:latin typeface="Times New Roman" pitchFamily="18" charset="0"/>
                <a:cs typeface="Times New Roman" pitchFamily="18" charset="0"/>
              </a:rPr>
              <a:t>Code Documentation</a:t>
            </a:r>
          </a:p>
          <a:p>
            <a:pPr lvl="1"/>
            <a:r>
              <a:rPr lang="en-US" sz="2400" dirty="0" smtClean="0">
                <a:latin typeface="Times New Roman" pitchFamily="18" charset="0"/>
                <a:cs typeface="Times New Roman" pitchFamily="18" charset="0"/>
              </a:rPr>
              <a:t>Separation of Concern</a:t>
            </a:r>
          </a:p>
          <a:p>
            <a:pPr lvl="1"/>
            <a:r>
              <a:rPr lang="en-US" sz="2400" dirty="0" smtClean="0">
                <a:latin typeface="Times New Roman" pitchFamily="18" charset="0"/>
                <a:cs typeface="Times New Roman" pitchFamily="18" charset="0"/>
              </a:rPr>
              <a:t>Follow Coding Standards, Guidelines, and Styles </a:t>
            </a:r>
          </a:p>
          <a:p>
            <a:pPr lvl="1"/>
            <a:endParaRPr lang="en-US"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05000" y="228600"/>
            <a:ext cx="5638800" cy="381000"/>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Implementation</a:t>
            </a:r>
            <a:r>
              <a:rPr lang="en-US" dirty="0" smtClean="0">
                <a:solidFill>
                  <a:srgbClr val="FF0000"/>
                </a:solidFill>
                <a:latin typeface="Times New Roman" pitchFamily="18" charset="0"/>
                <a:cs typeface="Times New Roman" pitchFamily="18" charset="0"/>
              </a:rPr>
              <a:t/>
            </a:r>
            <a:br>
              <a:rPr lang="en-US" dirty="0" smtClean="0">
                <a:solidFill>
                  <a:srgbClr val="FF0000"/>
                </a:solidFill>
                <a:latin typeface="Times New Roman" pitchFamily="18" charset="0"/>
                <a:cs typeface="Times New Roman" pitchFamily="18" charset="0"/>
              </a:rPr>
            </a:br>
            <a:endParaRPr lang="en-US" dirty="0">
              <a:solidFill>
                <a:srgbClr val="FF0000"/>
              </a:solidFill>
            </a:endParaRPr>
          </a:p>
        </p:txBody>
      </p:sp>
      <p:sp>
        <p:nvSpPr>
          <p:cNvPr id="4" name="Content Placeholder 3"/>
          <p:cNvSpPr>
            <a:spLocks noGrp="1"/>
          </p:cNvSpPr>
          <p:nvPr>
            <p:ph idx="1"/>
          </p:nvPr>
        </p:nvSpPr>
        <p:spPr>
          <a:xfrm>
            <a:off x="304800" y="762000"/>
            <a:ext cx="8534400" cy="5791200"/>
          </a:xfrm>
        </p:spPr>
        <p:txBody>
          <a:bodyPr>
            <a:normAutofit/>
          </a:bodyPr>
          <a:lstStyle/>
          <a:p>
            <a:pPr>
              <a:buNone/>
            </a:pPr>
            <a:r>
              <a:rPr lang="en-US" dirty="0" smtClean="0">
                <a:solidFill>
                  <a:srgbClr val="FF0000"/>
                </a:solidFill>
                <a:latin typeface="Times New Roman" pitchFamily="18" charset="0"/>
                <a:cs typeface="Times New Roman" pitchFamily="18" charset="0"/>
              </a:rPr>
              <a:t>2) Coding Styles</a:t>
            </a:r>
          </a:p>
          <a:p>
            <a:pPr lvl="1"/>
            <a:r>
              <a:rPr lang="en-US" dirty="0" smtClean="0">
                <a:latin typeface="Times New Roman" pitchFamily="18" charset="0"/>
                <a:cs typeface="Times New Roman" pitchFamily="18" charset="0"/>
              </a:rPr>
              <a:t>Use of goto statements</a:t>
            </a:r>
          </a:p>
          <a:p>
            <a:pPr lvl="1"/>
            <a:r>
              <a:rPr lang="en-US" dirty="0" smtClean="0">
                <a:latin typeface="Times New Roman" pitchFamily="18" charset="0"/>
                <a:cs typeface="Times New Roman" pitchFamily="18" charset="0"/>
              </a:rPr>
              <a:t>Use of control constructs</a:t>
            </a:r>
          </a:p>
          <a:p>
            <a:pPr lvl="1"/>
            <a:r>
              <a:rPr lang="en-US" dirty="0" smtClean="0">
                <a:latin typeface="Times New Roman" pitchFamily="18" charset="0"/>
                <a:cs typeface="Times New Roman" pitchFamily="18" charset="0"/>
              </a:rPr>
              <a:t>Define user-defined data types</a:t>
            </a:r>
          </a:p>
          <a:p>
            <a:pPr lvl="1"/>
            <a:r>
              <a:rPr lang="en-US" dirty="0" smtClean="0">
                <a:latin typeface="Times New Roman" pitchFamily="18" charset="0"/>
                <a:cs typeface="Times New Roman" pitchFamily="18" charset="0"/>
              </a:rPr>
              <a:t>Program size</a:t>
            </a:r>
          </a:p>
          <a:p>
            <a:pPr lvl="1"/>
            <a:r>
              <a:rPr lang="en-US" dirty="0" smtClean="0">
                <a:latin typeface="Times New Roman" pitchFamily="18" charset="0"/>
                <a:cs typeface="Times New Roman" pitchFamily="18" charset="0"/>
              </a:rPr>
              <a:t>Information hiding</a:t>
            </a:r>
          </a:p>
          <a:p>
            <a:pPr lvl="1"/>
            <a:r>
              <a:rPr lang="en-US" dirty="0" smtClean="0">
                <a:latin typeface="Times New Roman" pitchFamily="18" charset="0"/>
                <a:cs typeface="Times New Roman" pitchFamily="18" charset="0"/>
              </a:rPr>
              <a:t>Program documentation prologues</a:t>
            </a:r>
          </a:p>
          <a:p>
            <a:pPr lvl="1"/>
            <a:r>
              <a:rPr lang="en-US" dirty="0" smtClean="0">
                <a:latin typeface="Times New Roman" pitchFamily="18" charset="0"/>
                <a:cs typeface="Times New Roman" pitchFamily="18" charset="0"/>
              </a:rPr>
              <a:t>Commenting code</a:t>
            </a:r>
          </a:p>
          <a:p>
            <a:pPr lvl="1"/>
            <a:r>
              <a:rPr lang="en-US" dirty="0" smtClean="0">
                <a:latin typeface="Times New Roman" pitchFamily="18" charset="0"/>
                <a:cs typeface="Times New Roman" pitchFamily="18" charset="0"/>
              </a:rPr>
              <a:t>Use of temporary variables</a:t>
            </a:r>
          </a:p>
          <a:p>
            <a:pPr lvl="1"/>
            <a:r>
              <a:rPr lang="en-US" dirty="0" smtClean="0">
                <a:latin typeface="Times New Roman" pitchFamily="18" charset="0"/>
                <a:cs typeface="Times New Roman" pitchFamily="18" charset="0"/>
              </a:rPr>
              <a:t>Avoid patching bad code </a:t>
            </a:r>
            <a:endParaRPr lang="en-US"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05000" y="228600"/>
            <a:ext cx="5638800" cy="381000"/>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Implementation</a:t>
            </a:r>
            <a:r>
              <a:rPr lang="en-US" dirty="0" smtClean="0">
                <a:solidFill>
                  <a:srgbClr val="FF0000"/>
                </a:solidFill>
                <a:latin typeface="Times New Roman" pitchFamily="18" charset="0"/>
                <a:cs typeface="Times New Roman" pitchFamily="18" charset="0"/>
              </a:rPr>
              <a:t/>
            </a:r>
            <a:br>
              <a:rPr lang="en-US" dirty="0" smtClean="0">
                <a:solidFill>
                  <a:srgbClr val="FF0000"/>
                </a:solidFill>
                <a:latin typeface="Times New Roman" pitchFamily="18" charset="0"/>
                <a:cs typeface="Times New Roman" pitchFamily="18" charset="0"/>
              </a:rPr>
            </a:br>
            <a:endParaRPr lang="en-US" dirty="0">
              <a:solidFill>
                <a:srgbClr val="FF0000"/>
              </a:solidFill>
            </a:endParaRPr>
          </a:p>
        </p:txBody>
      </p:sp>
      <p:sp>
        <p:nvSpPr>
          <p:cNvPr id="4" name="Content Placeholder 3"/>
          <p:cNvSpPr>
            <a:spLocks noGrp="1"/>
          </p:cNvSpPr>
          <p:nvPr>
            <p:ph idx="1"/>
          </p:nvPr>
        </p:nvSpPr>
        <p:spPr>
          <a:xfrm>
            <a:off x="304800" y="762000"/>
            <a:ext cx="8534400" cy="5791200"/>
          </a:xfrm>
        </p:spPr>
        <p:txBody>
          <a:bodyPr>
            <a:normAutofit/>
          </a:bodyPr>
          <a:lstStyle/>
          <a:p>
            <a:pPr>
              <a:buNone/>
            </a:pPr>
            <a:r>
              <a:rPr lang="en-US" dirty="0" smtClean="0">
                <a:solidFill>
                  <a:srgbClr val="FF0000"/>
                </a:solidFill>
                <a:latin typeface="Times New Roman" pitchFamily="18" charset="0"/>
                <a:cs typeface="Times New Roman" pitchFamily="18" charset="0"/>
              </a:rPr>
              <a:t>3) Coding Errors</a:t>
            </a:r>
          </a:p>
          <a:p>
            <a:pPr lvl="1">
              <a:buFont typeface="Wingdings" pitchFamily="2" charset="2"/>
              <a:buChar char="Ø"/>
            </a:pPr>
            <a:r>
              <a:rPr lang="en-US" dirty="0" smtClean="0">
                <a:latin typeface="Times New Roman" pitchFamily="18" charset="0"/>
                <a:cs typeface="Times New Roman" pitchFamily="18" charset="0"/>
              </a:rPr>
              <a:t>Compilation Errors</a:t>
            </a:r>
          </a:p>
          <a:p>
            <a:pPr lvl="1">
              <a:buFont typeface="Wingdings" pitchFamily="2" charset="2"/>
              <a:buChar char="Ø"/>
            </a:pPr>
            <a:r>
              <a:rPr lang="en-US" dirty="0" smtClean="0">
                <a:latin typeface="Times New Roman" pitchFamily="18" charset="0"/>
                <a:cs typeface="Times New Roman" pitchFamily="18" charset="0"/>
              </a:rPr>
              <a:t>Logical Errors</a:t>
            </a:r>
          </a:p>
          <a:p>
            <a:pPr lvl="1">
              <a:buFont typeface="Wingdings" pitchFamily="2" charset="2"/>
              <a:buChar char="Ø"/>
            </a:pPr>
            <a:r>
              <a:rPr lang="en-US" dirty="0" smtClean="0">
                <a:latin typeface="Times New Roman" pitchFamily="18" charset="0"/>
                <a:cs typeface="Times New Roman" pitchFamily="18" charset="0"/>
              </a:rPr>
              <a:t>Runtime Errors</a:t>
            </a:r>
          </a:p>
          <a:p>
            <a:pPr>
              <a:buNone/>
            </a:pPr>
            <a:r>
              <a:rPr lang="en-US" dirty="0" smtClean="0">
                <a:solidFill>
                  <a:srgbClr val="FF0000"/>
                </a:solidFill>
                <a:latin typeface="Times New Roman" pitchFamily="18" charset="0"/>
                <a:cs typeface="Times New Roman" pitchFamily="18" charset="0"/>
              </a:rPr>
              <a:t>4) Coding Standards</a:t>
            </a:r>
          </a:p>
          <a:p>
            <a:pPr lvl="1">
              <a:buFont typeface="Wingdings" pitchFamily="2" charset="2"/>
              <a:buChar char="Ø"/>
            </a:pPr>
            <a:r>
              <a:rPr lang="en-US" dirty="0" smtClean="0">
                <a:latin typeface="Times New Roman" pitchFamily="18" charset="0"/>
                <a:cs typeface="Times New Roman" pitchFamily="18" charset="0"/>
              </a:rPr>
              <a:t>Naming Conventions</a:t>
            </a:r>
          </a:p>
          <a:p>
            <a:pPr lvl="1">
              <a:buFont typeface="Wingdings" pitchFamily="2" charset="2"/>
              <a:buChar char="Ø"/>
            </a:pPr>
            <a:r>
              <a:rPr lang="en-US" dirty="0" smtClean="0">
                <a:latin typeface="Times New Roman" pitchFamily="18" charset="0"/>
                <a:cs typeface="Times New Roman" pitchFamily="18" charset="0"/>
              </a:rPr>
              <a:t>Don’t Be Too Clever</a:t>
            </a:r>
          </a:p>
          <a:p>
            <a:pPr lvl="1">
              <a:buFont typeface="Wingdings" pitchFamily="2" charset="2"/>
              <a:buChar char="Ø"/>
            </a:pPr>
            <a:r>
              <a:rPr lang="en-US" dirty="0" smtClean="0">
                <a:latin typeface="Times New Roman" pitchFamily="18" charset="0"/>
                <a:cs typeface="Times New Roman" pitchFamily="18" charset="0"/>
              </a:rPr>
              <a:t>Code Formatting</a:t>
            </a:r>
          </a:p>
          <a:p>
            <a:pPr lvl="1">
              <a:buFont typeface="Wingdings" pitchFamily="2" charset="2"/>
              <a:buChar char="Ø"/>
            </a:pPr>
            <a:r>
              <a:rPr lang="en-US" dirty="0" smtClean="0">
                <a:latin typeface="Times New Roman" pitchFamily="18" charset="0"/>
                <a:cs typeface="Times New Roman" pitchFamily="18" charset="0"/>
              </a:rPr>
              <a:t>Avoid Deep Nesting</a:t>
            </a:r>
          </a:p>
          <a:p>
            <a:pPr lvl="1">
              <a:buFont typeface="Wingdings" pitchFamily="2" charset="2"/>
              <a:buChar char="Ø"/>
            </a:pPr>
            <a:r>
              <a:rPr lang="en-US" dirty="0" smtClean="0">
                <a:latin typeface="Times New Roman" pitchFamily="18" charset="0"/>
                <a:cs typeface="Times New Roman" pitchFamily="18" charset="0"/>
              </a:rPr>
              <a:t>Error Handling</a:t>
            </a:r>
          </a:p>
          <a:p>
            <a:pPr lvl="1">
              <a:buFont typeface="Wingdings" pitchFamily="2" charset="2"/>
              <a:buChar char="Ø"/>
            </a:pPr>
            <a:r>
              <a:rPr lang="en-US" dirty="0" smtClean="0">
                <a:latin typeface="Times New Roman" pitchFamily="18" charset="0"/>
                <a:cs typeface="Times New Roman" pitchFamily="18" charset="0"/>
              </a:rPr>
              <a:t>Modularization of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05000" y="228600"/>
            <a:ext cx="5638800" cy="381000"/>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Implementation</a:t>
            </a:r>
            <a:r>
              <a:rPr lang="en-US" dirty="0" smtClean="0">
                <a:solidFill>
                  <a:srgbClr val="FF0000"/>
                </a:solidFill>
                <a:latin typeface="Times New Roman" pitchFamily="18" charset="0"/>
                <a:cs typeface="Times New Roman" pitchFamily="18" charset="0"/>
              </a:rPr>
              <a:t/>
            </a:r>
            <a:br>
              <a:rPr lang="en-US" dirty="0" smtClean="0">
                <a:solidFill>
                  <a:srgbClr val="FF0000"/>
                </a:solidFill>
                <a:latin typeface="Times New Roman" pitchFamily="18" charset="0"/>
                <a:cs typeface="Times New Roman" pitchFamily="18" charset="0"/>
              </a:rPr>
            </a:br>
            <a:endParaRPr lang="en-US" dirty="0">
              <a:solidFill>
                <a:srgbClr val="FF0000"/>
              </a:solidFill>
            </a:endParaRPr>
          </a:p>
        </p:txBody>
      </p:sp>
      <p:sp>
        <p:nvSpPr>
          <p:cNvPr id="4" name="Content Placeholder 3"/>
          <p:cNvSpPr>
            <a:spLocks noGrp="1"/>
          </p:cNvSpPr>
          <p:nvPr>
            <p:ph idx="1"/>
          </p:nvPr>
        </p:nvSpPr>
        <p:spPr>
          <a:xfrm>
            <a:off x="304800" y="762000"/>
            <a:ext cx="8534400" cy="5791200"/>
          </a:xfrm>
        </p:spPr>
        <p:txBody>
          <a:bodyPr>
            <a:normAutofit/>
          </a:bodyPr>
          <a:lstStyle/>
          <a:p>
            <a:pPr>
              <a:buNone/>
            </a:pPr>
            <a:r>
              <a:rPr lang="en-US" dirty="0" smtClean="0">
                <a:solidFill>
                  <a:srgbClr val="FF0000"/>
                </a:solidFill>
                <a:latin typeface="Times New Roman" pitchFamily="18" charset="0"/>
                <a:cs typeface="Times New Roman" pitchFamily="18" charset="0"/>
              </a:rPr>
              <a:t>5) Coding Process</a:t>
            </a:r>
          </a:p>
          <a:p>
            <a:pPr lvl="1">
              <a:buFont typeface="Wingdings" pitchFamily="2" charset="2"/>
              <a:buChar char="Ø"/>
            </a:pPr>
            <a:r>
              <a:rPr lang="en-US" dirty="0" smtClean="0">
                <a:latin typeface="Times New Roman" pitchFamily="18" charset="0"/>
                <a:cs typeface="Times New Roman" pitchFamily="18" charset="0"/>
              </a:rPr>
              <a:t>Traditional Coding Process</a:t>
            </a:r>
          </a:p>
          <a:p>
            <a:pPr lvl="1">
              <a:buFont typeface="Wingdings" pitchFamily="2" charset="2"/>
              <a:buChar char="Ø"/>
            </a:pPr>
            <a:r>
              <a:rPr lang="en-US" dirty="0" smtClean="0">
                <a:latin typeface="Times New Roman" pitchFamily="18" charset="0"/>
                <a:cs typeface="Times New Roman" pitchFamily="18" charset="0"/>
              </a:rPr>
              <a:t>Test-Driven Development</a:t>
            </a:r>
          </a:p>
          <a:p>
            <a:pPr lvl="1">
              <a:buNone/>
            </a:pPr>
            <a:endParaRPr lang="en-US" dirty="0" smtClean="0">
              <a:latin typeface="Times New Roman" pitchFamily="18" charset="0"/>
              <a:cs typeface="Times New Roman" pitchFamily="18" charset="0"/>
            </a:endParaRPr>
          </a:p>
          <a:p>
            <a:pPr>
              <a:buNone/>
            </a:pPr>
            <a:r>
              <a:rPr lang="en-US" dirty="0" smtClean="0">
                <a:solidFill>
                  <a:srgbClr val="FF0000"/>
                </a:solidFill>
                <a:latin typeface="Times New Roman" pitchFamily="18" charset="0"/>
                <a:cs typeface="Times New Roman" pitchFamily="18" charset="0"/>
              </a:rPr>
              <a:t>6) Coding Verification</a:t>
            </a:r>
          </a:p>
          <a:p>
            <a:pPr lvl="1">
              <a:buFont typeface="Wingdings" pitchFamily="2" charset="2"/>
              <a:buChar char="Ø"/>
            </a:pPr>
            <a:r>
              <a:rPr lang="en-US" dirty="0" smtClean="0">
                <a:latin typeface="Times New Roman" pitchFamily="18" charset="0"/>
                <a:cs typeface="Times New Roman" pitchFamily="18" charset="0"/>
              </a:rPr>
              <a:t>Code review</a:t>
            </a:r>
          </a:p>
          <a:p>
            <a:pPr lvl="2">
              <a:buFont typeface="Wingdings" pitchFamily="2" charset="2"/>
              <a:buChar char="Ø"/>
            </a:pPr>
            <a:r>
              <a:rPr lang="en-US" dirty="0" smtClean="0">
                <a:latin typeface="Times New Roman" pitchFamily="18" charset="0"/>
                <a:cs typeface="Times New Roman" pitchFamily="18" charset="0"/>
              </a:rPr>
              <a:t>Code Walkthrough</a:t>
            </a:r>
          </a:p>
          <a:p>
            <a:pPr lvl="2">
              <a:buFont typeface="Wingdings" pitchFamily="2" charset="2"/>
              <a:buChar char="Ø"/>
            </a:pPr>
            <a:r>
              <a:rPr lang="en-US" dirty="0" smtClean="0">
                <a:latin typeface="Times New Roman" pitchFamily="18" charset="0"/>
                <a:cs typeface="Times New Roman" pitchFamily="18" charset="0"/>
              </a:rPr>
              <a:t>Code inspection</a:t>
            </a:r>
          </a:p>
          <a:p>
            <a:pPr lvl="2">
              <a:buFont typeface="Wingdings" pitchFamily="2" charset="2"/>
              <a:buChar char="Ø"/>
            </a:pPr>
            <a:r>
              <a:rPr lang="en-US" dirty="0" smtClean="0">
                <a:latin typeface="Times New Roman" pitchFamily="18" charset="0"/>
                <a:cs typeface="Times New Roman" pitchFamily="18" charset="0"/>
              </a:rPr>
              <a:t>Pair programming</a:t>
            </a:r>
          </a:p>
          <a:p>
            <a:pPr lvl="1">
              <a:buFont typeface="Wingdings" pitchFamily="2" charset="2"/>
              <a:buChar char="Ø"/>
            </a:pPr>
            <a:r>
              <a:rPr lang="en-US" dirty="0" smtClean="0">
                <a:latin typeface="Times New Roman" pitchFamily="18" charset="0"/>
                <a:cs typeface="Times New Roman" pitchFamily="18" charset="0"/>
              </a:rPr>
              <a:t>Static Analysis</a:t>
            </a:r>
          </a:p>
          <a:p>
            <a:pPr lvl="1">
              <a:buFont typeface="Wingdings" pitchFamily="2" charset="2"/>
              <a:buChar char="Ø"/>
            </a:pPr>
            <a:r>
              <a:rPr lang="en-US" dirty="0" smtClean="0">
                <a:latin typeface="Times New Roman" pitchFamily="18" charset="0"/>
                <a:cs typeface="Times New Roman" pitchFamily="18" charset="0"/>
              </a:rPr>
              <a:t>Testing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05000" y="228600"/>
            <a:ext cx="5638800" cy="381000"/>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Implementation</a:t>
            </a:r>
            <a:r>
              <a:rPr lang="en-US" dirty="0" smtClean="0">
                <a:solidFill>
                  <a:srgbClr val="FF0000"/>
                </a:solidFill>
                <a:latin typeface="Times New Roman" pitchFamily="18" charset="0"/>
                <a:cs typeface="Times New Roman" pitchFamily="18" charset="0"/>
              </a:rPr>
              <a:t/>
            </a:r>
            <a:br>
              <a:rPr lang="en-US" dirty="0" smtClean="0">
                <a:solidFill>
                  <a:srgbClr val="FF0000"/>
                </a:solidFill>
                <a:latin typeface="Times New Roman" pitchFamily="18" charset="0"/>
                <a:cs typeface="Times New Roman" pitchFamily="18" charset="0"/>
              </a:rPr>
            </a:br>
            <a:endParaRPr lang="en-US" dirty="0">
              <a:solidFill>
                <a:srgbClr val="FF0000"/>
              </a:solidFill>
            </a:endParaRPr>
          </a:p>
        </p:txBody>
      </p:sp>
      <p:sp>
        <p:nvSpPr>
          <p:cNvPr id="4" name="Content Placeholder 3"/>
          <p:cNvSpPr>
            <a:spLocks noGrp="1"/>
          </p:cNvSpPr>
          <p:nvPr>
            <p:ph idx="1"/>
          </p:nvPr>
        </p:nvSpPr>
        <p:spPr>
          <a:xfrm>
            <a:off x="304800" y="990600"/>
            <a:ext cx="8534400" cy="5562600"/>
          </a:xfrm>
        </p:spPr>
        <p:txBody>
          <a:bodyPr>
            <a:normAutofit/>
          </a:bodyPr>
          <a:lstStyle/>
          <a:p>
            <a:pPr>
              <a:buNone/>
            </a:pPr>
            <a:r>
              <a:rPr lang="en-US" dirty="0" smtClean="0">
                <a:solidFill>
                  <a:srgbClr val="FF0000"/>
                </a:solidFill>
                <a:latin typeface="Times New Roman" pitchFamily="18" charset="0"/>
                <a:cs typeface="Times New Roman" pitchFamily="18" charset="0"/>
              </a:rPr>
              <a:t>7) Code Documentation </a:t>
            </a:r>
          </a:p>
          <a:p>
            <a:pPr lvl="1">
              <a:buFont typeface="Wingdings" pitchFamily="2" charset="2"/>
              <a:buChar char="Ø"/>
            </a:pPr>
            <a:r>
              <a:rPr lang="en-US" dirty="0" smtClean="0">
                <a:latin typeface="Times New Roman" pitchFamily="18" charset="0"/>
                <a:cs typeface="Times New Roman" pitchFamily="18" charset="0"/>
              </a:rPr>
              <a:t>Internal Documentation</a:t>
            </a:r>
          </a:p>
          <a:p>
            <a:pPr lvl="1">
              <a:buFont typeface="Wingdings" pitchFamily="2" charset="2"/>
              <a:buChar char="Ø"/>
            </a:pPr>
            <a:r>
              <a:rPr lang="en-US" dirty="0" smtClean="0">
                <a:latin typeface="Times New Roman" pitchFamily="18" charset="0"/>
                <a:cs typeface="Times New Roman" pitchFamily="18" charset="0"/>
              </a:rPr>
              <a:t>System Documentation</a:t>
            </a:r>
          </a:p>
          <a:p>
            <a:pPr lvl="1">
              <a:buFont typeface="Wingdings" pitchFamily="2" charset="2"/>
              <a:buChar char="Ø"/>
            </a:pPr>
            <a:r>
              <a:rPr lang="en-US" dirty="0" smtClean="0">
                <a:latin typeface="Times New Roman" pitchFamily="18" charset="0"/>
                <a:cs typeface="Times New Roman" pitchFamily="18" charset="0"/>
              </a:rPr>
              <a:t>User Documentation</a:t>
            </a:r>
          </a:p>
          <a:p>
            <a:pPr lvl="1">
              <a:buFont typeface="Wingdings" pitchFamily="2" charset="2"/>
              <a:buChar char="Ø"/>
            </a:pPr>
            <a:r>
              <a:rPr lang="en-US" dirty="0" smtClean="0">
                <a:latin typeface="Times New Roman" pitchFamily="18" charset="0"/>
                <a:cs typeface="Times New Roman" pitchFamily="18" charset="0"/>
              </a:rPr>
              <a:t>Process Documentation</a:t>
            </a:r>
          </a:p>
          <a:p>
            <a:pPr lvl="1">
              <a:buFont typeface="Wingdings" pitchFamily="2" charset="2"/>
              <a:buChar char="Ø"/>
            </a:pPr>
            <a:r>
              <a:rPr lang="en-US" dirty="0" smtClean="0">
                <a:latin typeface="Times New Roman" pitchFamily="18" charset="0"/>
                <a:cs typeface="Times New Roman" pitchFamily="18" charset="0"/>
              </a:rPr>
              <a:t>Daily Documentation</a:t>
            </a:r>
          </a:p>
          <a:p>
            <a:pPr lvl="2">
              <a:buFont typeface="Wingdings" pitchFamily="2" charset="2"/>
              <a:buChar char="Ø"/>
            </a:pPr>
            <a:endParaRPr lang="en-US" dirty="0" smtClean="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4873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6" name="Content Placeholder 5"/>
          <p:cNvSpPr>
            <a:spLocks noGrp="1"/>
          </p:cNvSpPr>
          <p:nvPr>
            <p:ph idx="1"/>
          </p:nvPr>
        </p:nvSpPr>
        <p:spPr>
          <a:xfrm>
            <a:off x="228600" y="838200"/>
            <a:ext cx="8686800" cy="5715000"/>
          </a:xfrm>
        </p:spPr>
        <p:txBody>
          <a:bodyPr>
            <a:normAutofit/>
          </a:bodyPr>
          <a:lstStyle/>
          <a:p>
            <a:r>
              <a:rPr lang="en-US" sz="2800" dirty="0" smtClean="0">
                <a:solidFill>
                  <a:srgbClr val="00B050"/>
                </a:solidFill>
                <a:latin typeface="Times New Roman" pitchFamily="18" charset="0"/>
                <a:cs typeface="Times New Roman" pitchFamily="18" charset="0"/>
              </a:rPr>
              <a:t>Coding is undertaken once the design phase is complete and the design documents have been successfully reviewed.</a:t>
            </a:r>
          </a:p>
          <a:p>
            <a:endParaRPr lang="en-US"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In the coding phase, every module specified in the design document is coded and unit tested. During unit testing, each module is tested in isolation from other modules. That is, a module is tested independently as and when its coding is complete.</a:t>
            </a:r>
            <a:endParaRPr lang="en-US" sz="28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4873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6" name="Content Placeholder 5"/>
          <p:cNvSpPr>
            <a:spLocks noGrp="1"/>
          </p:cNvSpPr>
          <p:nvPr>
            <p:ph idx="1"/>
          </p:nvPr>
        </p:nvSpPr>
        <p:spPr>
          <a:xfrm>
            <a:off x="228600" y="838200"/>
            <a:ext cx="8686800" cy="5715000"/>
          </a:xfrm>
        </p:spPr>
        <p:txBody>
          <a:bodyPr>
            <a:normAutofit/>
          </a:bodyPr>
          <a:lstStyle/>
          <a:p>
            <a:r>
              <a:rPr lang="en-US" sz="2800" dirty="0" smtClean="0">
                <a:solidFill>
                  <a:srgbClr val="00B050"/>
                </a:solidFill>
                <a:latin typeface="Times New Roman" pitchFamily="18" charset="0"/>
                <a:cs typeface="Times New Roman" pitchFamily="18" charset="0"/>
              </a:rPr>
              <a:t>After all the modules of a system have been coded and unit tested, the integration and system testing phase is undertaken.</a:t>
            </a:r>
          </a:p>
          <a:p>
            <a:endParaRPr lang="en-US" sz="2800" dirty="0" smtClean="0">
              <a:solidFill>
                <a:srgbClr val="00B050"/>
              </a:solidFill>
              <a:latin typeface="Times New Roman" pitchFamily="18" charset="0"/>
              <a:cs typeface="Times New Roman" pitchFamily="18" charset="0"/>
            </a:endParaRPr>
          </a:p>
          <a:p>
            <a:r>
              <a:rPr lang="en-US" sz="2800" dirty="0" smtClean="0">
                <a:solidFill>
                  <a:srgbClr val="00B050"/>
                </a:solidFill>
                <a:latin typeface="Times New Roman" pitchFamily="18" charset="0"/>
                <a:cs typeface="Times New Roman" pitchFamily="18" charset="0"/>
              </a:rPr>
              <a:t>Over the years, the general perception of testing as monkeys typing in random data and trying to crash the system has changed. Now testers are looked upon as masters of specialized concepts, techniques, and tools.</a:t>
            </a:r>
            <a:endParaRPr lang="en-US" sz="2800" dirty="0">
              <a:solidFill>
                <a:srgbClr val="00B050"/>
              </a:solidFill>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4873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6" name="Content Placeholder 5"/>
          <p:cNvSpPr>
            <a:spLocks noGrp="1"/>
          </p:cNvSpPr>
          <p:nvPr>
            <p:ph idx="1"/>
          </p:nvPr>
        </p:nvSpPr>
        <p:spPr>
          <a:xfrm>
            <a:off x="228600" y="685800"/>
            <a:ext cx="8686800" cy="5867400"/>
          </a:xfrm>
        </p:spPr>
        <p:txBody>
          <a:bodyPr>
            <a:normAutofit/>
          </a:bodyPr>
          <a:lstStyle/>
          <a:p>
            <a:pPr>
              <a:buNone/>
            </a:pPr>
            <a:r>
              <a:rPr lang="en-US" sz="2800" b="1" dirty="0" smtClean="0">
                <a:latin typeface="Times New Roman" pitchFamily="18" charset="0"/>
                <a:cs typeface="Times New Roman" pitchFamily="18" charset="0"/>
              </a:rPr>
              <a:t>CODING:</a:t>
            </a:r>
          </a:p>
          <a:p>
            <a:r>
              <a:rPr lang="en-US" sz="2800" dirty="0" smtClean="0">
                <a:latin typeface="Times New Roman" pitchFamily="18" charset="0"/>
                <a:cs typeface="Times New Roman" pitchFamily="18" charset="0"/>
              </a:rPr>
              <a:t>The input to the coding phase is the design document produced at the end of the design phase.</a:t>
            </a:r>
          </a:p>
          <a:p>
            <a:pPr>
              <a:buNone/>
            </a:pPr>
            <a:endParaRPr lang="en-US" sz="2800" dirty="0" smtClean="0">
              <a:solidFill>
                <a:srgbClr val="0070C0"/>
              </a:solidFill>
              <a:latin typeface="Times New Roman" pitchFamily="18" charset="0"/>
              <a:cs typeface="Times New Roman" pitchFamily="18" charset="0"/>
            </a:endParaRPr>
          </a:p>
          <a:p>
            <a:r>
              <a:rPr lang="en-US" sz="2800" dirty="0" smtClean="0">
                <a:latin typeface="Times New Roman" pitchFamily="18" charset="0"/>
                <a:cs typeface="Times New Roman" pitchFamily="18" charset="0"/>
              </a:rPr>
              <a:t>During the coding phase, different modules identified in the design document are coded according to their respective module specifications.</a:t>
            </a:r>
          </a:p>
          <a:p>
            <a:endParaRPr lang="en-US" sz="2800" dirty="0" smtClean="0">
              <a:latin typeface="Times New Roman" pitchFamily="18" charset="0"/>
              <a:cs typeface="Times New Roman" pitchFamily="18" charset="0"/>
            </a:endParaRPr>
          </a:p>
          <a:p>
            <a:r>
              <a:rPr lang="en-US" sz="2800" dirty="0" smtClean="0">
                <a:solidFill>
                  <a:srgbClr val="00B050"/>
                </a:solidFill>
                <a:latin typeface="Times New Roman" pitchFamily="18" charset="0"/>
                <a:cs typeface="Times New Roman" pitchFamily="18" charset="0"/>
              </a:rPr>
              <a:t>The objective of the coding phase is to transform the design of a system into code in a high-level language, and then to unit test this code.</a:t>
            </a:r>
            <a:endParaRPr lang="en-US" sz="2800" b="1" dirty="0" smtClean="0">
              <a:solidFill>
                <a:srgbClr val="00B050"/>
              </a:solidFill>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4873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6" name="Content Placeholder 5"/>
          <p:cNvSpPr>
            <a:spLocks noGrp="1"/>
          </p:cNvSpPr>
          <p:nvPr>
            <p:ph idx="1"/>
          </p:nvPr>
        </p:nvSpPr>
        <p:spPr>
          <a:xfrm>
            <a:off x="228600" y="685800"/>
            <a:ext cx="8686800" cy="5867400"/>
          </a:xfrm>
        </p:spPr>
        <p:txBody>
          <a:bodyPr>
            <a:normAutofit/>
          </a:bodyPr>
          <a:lstStyle/>
          <a:p>
            <a:pPr>
              <a:buNone/>
            </a:pPr>
            <a:r>
              <a:rPr lang="en-US" sz="2800" b="1" dirty="0" smtClean="0">
                <a:latin typeface="Times New Roman" pitchFamily="18" charset="0"/>
                <a:cs typeface="Times New Roman" pitchFamily="18" charset="0"/>
              </a:rPr>
              <a:t>The main advantages of adhering to a standard style of coding are the following:</a:t>
            </a:r>
          </a:p>
          <a:p>
            <a:pPr lvl="1"/>
            <a:r>
              <a:rPr lang="en-US" dirty="0" smtClean="0">
                <a:latin typeface="Times New Roman" pitchFamily="18" charset="0"/>
                <a:cs typeface="Times New Roman" pitchFamily="18" charset="0"/>
              </a:rPr>
              <a:t>A coding standard gives a uniform appearance to the codes written by different engineers.</a:t>
            </a:r>
          </a:p>
          <a:p>
            <a:pPr lvl="1"/>
            <a:r>
              <a:rPr lang="en-US" dirty="0" smtClean="0">
                <a:latin typeface="Times New Roman" pitchFamily="18" charset="0"/>
                <a:cs typeface="Times New Roman" pitchFamily="18" charset="0"/>
              </a:rPr>
              <a:t> It facilitates code understanding and code reuse.</a:t>
            </a:r>
          </a:p>
          <a:p>
            <a:pPr lvl="1"/>
            <a:r>
              <a:rPr lang="en-US" dirty="0" smtClean="0">
                <a:latin typeface="Times New Roman" pitchFamily="18" charset="0"/>
                <a:cs typeface="Times New Roman" pitchFamily="18" charset="0"/>
              </a:rPr>
              <a:t>It promotes good programming practices.</a:t>
            </a:r>
            <a:endParaRPr lang="en-US" b="1" dirty="0" smtClean="0">
              <a:solidFill>
                <a:srgbClr val="00B0F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304800" y="3657600"/>
            <a:ext cx="8534401" cy="25146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4873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6" name="Content Placeholder 5"/>
          <p:cNvSpPr>
            <a:spLocks noGrp="1"/>
          </p:cNvSpPr>
          <p:nvPr>
            <p:ph idx="1"/>
          </p:nvPr>
        </p:nvSpPr>
        <p:spPr>
          <a:xfrm>
            <a:off x="228600" y="1066800"/>
            <a:ext cx="8686800" cy="5486400"/>
          </a:xfrm>
        </p:spPr>
        <p:txBody>
          <a:bodyPr>
            <a:normAutofit/>
          </a:bodyPr>
          <a:lstStyle/>
          <a:p>
            <a:pPr>
              <a:buNone/>
            </a:pPr>
            <a:r>
              <a:rPr lang="en-US" sz="2800" b="1" dirty="0" smtClean="0">
                <a:latin typeface="Times New Roman" pitchFamily="18" charset="0"/>
                <a:cs typeface="Times New Roman" pitchFamily="18" charset="0"/>
              </a:rPr>
              <a:t>Representative coding standards</a:t>
            </a:r>
          </a:p>
          <a:p>
            <a:pPr>
              <a:buNone/>
            </a:pPr>
            <a:endParaRPr lang="en-US" sz="2800" b="1" dirty="0" smtClean="0">
              <a:latin typeface="Times New Roman" pitchFamily="18" charset="0"/>
              <a:cs typeface="Times New Roman" pitchFamily="18" charset="0"/>
            </a:endParaRPr>
          </a:p>
          <a:p>
            <a:pPr lvl="1"/>
            <a:r>
              <a:rPr lang="en-US" b="1" dirty="0" smtClean="0">
                <a:latin typeface="Times New Roman" pitchFamily="18" charset="0"/>
                <a:cs typeface="Times New Roman" pitchFamily="18" charset="0"/>
              </a:rPr>
              <a:t>Rules for limiting the use of globals</a:t>
            </a:r>
          </a:p>
          <a:p>
            <a:pPr lvl="2"/>
            <a:r>
              <a:rPr lang="en-US" sz="2800" dirty="0" smtClean="0">
                <a:latin typeface="Times New Roman" pitchFamily="18" charset="0"/>
                <a:cs typeface="Times New Roman" pitchFamily="18" charset="0"/>
              </a:rPr>
              <a:t>These rules list what types of data can be declared global and what cannot, with a view to limit the data that needs to be defined with global scope.</a:t>
            </a:r>
          </a:p>
          <a:p>
            <a:pPr lvl="2">
              <a:buNone/>
            </a:pPr>
            <a:endParaRPr lang="en-US" sz="2800" dirty="0" smtClean="0">
              <a:latin typeface="Times New Roman" pitchFamily="18" charset="0"/>
              <a:cs typeface="Times New Roman" pitchFamily="18" charset="0"/>
            </a:endParaRPr>
          </a:p>
          <a:p>
            <a:pPr lvl="1"/>
            <a:r>
              <a:rPr lang="en-US" b="1" dirty="0" smtClean="0">
                <a:latin typeface="Times New Roman" pitchFamily="18" charset="0"/>
                <a:cs typeface="Times New Roman" pitchFamily="18" charset="0"/>
              </a:rPr>
              <a:t>Standard headers for different modules</a:t>
            </a:r>
          </a:p>
          <a:p>
            <a:pPr lvl="2"/>
            <a:r>
              <a:rPr lang="en-US" sz="2800" dirty="0" smtClean="0">
                <a:latin typeface="Times New Roman" pitchFamily="18" charset="0"/>
                <a:cs typeface="Times New Roman" pitchFamily="18" charset="0"/>
              </a:rPr>
              <a:t>The header of different modules should have standard format and information for ease of understanding and maintenance.</a:t>
            </a:r>
            <a:endParaRPr lang="en-US" sz="2800" b="1" dirty="0" smtClean="0">
              <a:solidFill>
                <a:srgbClr val="00B0F0"/>
              </a:solidFill>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4873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6" name="Content Placeholder 5"/>
          <p:cNvSpPr>
            <a:spLocks noGrp="1"/>
          </p:cNvSpPr>
          <p:nvPr>
            <p:ph idx="1"/>
          </p:nvPr>
        </p:nvSpPr>
        <p:spPr>
          <a:xfrm>
            <a:off x="228600" y="990600"/>
            <a:ext cx="8686800" cy="5562600"/>
          </a:xfrm>
        </p:spPr>
        <p:txBody>
          <a:bodyPr>
            <a:normAutofit/>
          </a:bodyPr>
          <a:lstStyle/>
          <a:p>
            <a:pPr lvl="1">
              <a:buNone/>
            </a:pPr>
            <a:r>
              <a:rPr lang="en-US" b="1" dirty="0" smtClean="0">
                <a:solidFill>
                  <a:srgbClr val="FF0000"/>
                </a:solidFill>
                <a:latin typeface="Times New Roman" pitchFamily="18" charset="0"/>
                <a:cs typeface="Times New Roman" pitchFamily="18" charset="0"/>
              </a:rPr>
              <a:t>Standard headers for different modules:</a:t>
            </a:r>
          </a:p>
          <a:p>
            <a:pPr lvl="1"/>
            <a:r>
              <a:rPr lang="en-US" dirty="0" smtClean="0">
                <a:latin typeface="Times New Roman" pitchFamily="18" charset="0"/>
                <a:cs typeface="Times New Roman" pitchFamily="18" charset="0"/>
              </a:rPr>
              <a:t>Name of the module.</a:t>
            </a:r>
          </a:p>
          <a:p>
            <a:pPr lvl="1"/>
            <a:r>
              <a:rPr lang="en-US" dirty="0" smtClean="0">
                <a:latin typeface="Times New Roman" pitchFamily="18" charset="0"/>
                <a:cs typeface="Times New Roman" pitchFamily="18" charset="0"/>
              </a:rPr>
              <a:t>Date on which the module was created.</a:t>
            </a:r>
          </a:p>
          <a:p>
            <a:pPr lvl="1"/>
            <a:r>
              <a:rPr lang="en-US" dirty="0" smtClean="0">
                <a:latin typeface="Times New Roman" pitchFamily="18" charset="0"/>
                <a:cs typeface="Times New Roman" pitchFamily="18" charset="0"/>
              </a:rPr>
              <a:t>Author’s name.</a:t>
            </a:r>
          </a:p>
          <a:p>
            <a:pPr lvl="1"/>
            <a:r>
              <a:rPr lang="en-US" dirty="0" smtClean="0">
                <a:latin typeface="Times New Roman" pitchFamily="18" charset="0"/>
                <a:cs typeface="Times New Roman" pitchFamily="18" charset="0"/>
              </a:rPr>
              <a:t>Modification history.</a:t>
            </a:r>
          </a:p>
          <a:p>
            <a:pPr lvl="1"/>
            <a:r>
              <a:rPr lang="en-US" dirty="0" smtClean="0">
                <a:latin typeface="Times New Roman" pitchFamily="18" charset="0"/>
                <a:cs typeface="Times New Roman" pitchFamily="18" charset="0"/>
              </a:rPr>
              <a:t>Synopsis of the module. This is a small write-up about what the module does.</a:t>
            </a:r>
          </a:p>
          <a:p>
            <a:pPr lvl="1"/>
            <a:r>
              <a:rPr lang="en-US" dirty="0" smtClean="0">
                <a:latin typeface="Times New Roman" pitchFamily="18" charset="0"/>
                <a:cs typeface="Times New Roman" pitchFamily="18" charset="0"/>
              </a:rPr>
              <a:t>Different functions supported in the module, along with their input/output parameters.</a:t>
            </a:r>
          </a:p>
          <a:p>
            <a:pPr lvl="1"/>
            <a:r>
              <a:rPr lang="en-US" dirty="0" smtClean="0">
                <a:latin typeface="Times New Roman" pitchFamily="18" charset="0"/>
                <a:cs typeface="Times New Roman" pitchFamily="18" charset="0"/>
              </a:rPr>
              <a:t>Global variables accessed/modified by the module.</a:t>
            </a:r>
          </a:p>
          <a:p>
            <a:pPr lvl="3"/>
            <a:endParaRPr lang="en-US" b="1" dirty="0" smtClean="0">
              <a:solidFill>
                <a:srgbClr val="00B0F0"/>
              </a:solidFill>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57400" y="274638"/>
            <a:ext cx="5029200" cy="4111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4" name="Content Placeholder 3"/>
          <p:cNvSpPr>
            <a:spLocks noGrp="1"/>
          </p:cNvSpPr>
          <p:nvPr>
            <p:ph idx="1"/>
          </p:nvPr>
        </p:nvSpPr>
        <p:spPr>
          <a:xfrm>
            <a:off x="304800" y="1143000"/>
            <a:ext cx="8610600" cy="5486400"/>
          </a:xfrm>
        </p:spPr>
        <p:txBody>
          <a:bodyPr>
            <a:normAutofit/>
          </a:bodyPr>
          <a:lstStyle/>
          <a:p>
            <a:pPr>
              <a:buNone/>
            </a:pPr>
            <a:r>
              <a:rPr lang="en-US" sz="2800" b="1" dirty="0" smtClean="0">
                <a:latin typeface="Times New Roman" pitchFamily="18" charset="0"/>
                <a:cs typeface="Times New Roman" pitchFamily="18" charset="0"/>
              </a:rPr>
              <a:t>Naming conventions for global variables, local variables, and constant identifiers:</a:t>
            </a:r>
          </a:p>
          <a:p>
            <a:r>
              <a:rPr lang="en-US" sz="2800" dirty="0" smtClean="0">
                <a:latin typeface="Times New Roman" pitchFamily="18" charset="0"/>
                <a:cs typeface="Times New Roman" pitchFamily="18" charset="0"/>
              </a:rPr>
              <a:t>A popular naming convention is that variables are named using mixed case lettering. </a:t>
            </a:r>
          </a:p>
          <a:p>
            <a:r>
              <a:rPr lang="en-US" sz="2800" dirty="0" smtClean="0">
                <a:latin typeface="Times New Roman" pitchFamily="18" charset="0"/>
                <a:cs typeface="Times New Roman" pitchFamily="18" charset="0"/>
              </a:rPr>
              <a:t>Global variable names would always start with a capital letter (e.g., Global-Data) and</a:t>
            </a:r>
          </a:p>
          <a:p>
            <a:r>
              <a:rPr lang="en-US" sz="2800" dirty="0" smtClean="0">
                <a:latin typeface="Times New Roman" pitchFamily="18" charset="0"/>
                <a:cs typeface="Times New Roman" pitchFamily="18" charset="0"/>
              </a:rPr>
              <a:t> local variable names start with small letters (e.g., local-Data). Constant names should be formed using capital letters only (e.g., CONSTDATA).</a:t>
            </a:r>
            <a:endParaRPr lang="en-US" sz="28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57400" y="274638"/>
            <a:ext cx="5029200" cy="4111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4" name="Content Placeholder 3"/>
          <p:cNvSpPr>
            <a:spLocks noGrp="1"/>
          </p:cNvSpPr>
          <p:nvPr>
            <p:ph idx="1"/>
          </p:nvPr>
        </p:nvSpPr>
        <p:spPr>
          <a:xfrm>
            <a:off x="304800" y="1066800"/>
            <a:ext cx="8610600" cy="5562600"/>
          </a:xfrm>
        </p:spPr>
        <p:txBody>
          <a:bodyPr>
            <a:normAutofit/>
          </a:bodyPr>
          <a:lstStyle/>
          <a:p>
            <a:pPr>
              <a:buNone/>
            </a:pPr>
            <a:r>
              <a:rPr lang="en-US" sz="2800" b="1" dirty="0" smtClean="0">
                <a:latin typeface="Times New Roman" pitchFamily="18" charset="0"/>
                <a:cs typeface="Times New Roman" pitchFamily="18" charset="0"/>
              </a:rPr>
              <a:t>Conventions regarding error return values and exception handling mechanisms:</a:t>
            </a:r>
          </a:p>
          <a:p>
            <a:pPr lvl="1"/>
            <a:r>
              <a:rPr lang="en-US" dirty="0" smtClean="0">
                <a:latin typeface="Times New Roman" pitchFamily="18" charset="0"/>
                <a:cs typeface="Times New Roman" pitchFamily="18" charset="0"/>
              </a:rPr>
              <a:t>The way error conditions are reported by different functions in a program should be standard within an organization.</a:t>
            </a:r>
          </a:p>
          <a:p>
            <a:r>
              <a:rPr lang="en-US" sz="2800" b="1" dirty="0" smtClean="0">
                <a:latin typeface="Times New Roman" pitchFamily="18" charset="0"/>
                <a:cs typeface="Times New Roman" pitchFamily="18" charset="0"/>
              </a:rPr>
              <a:t>Representative coding guidelines:</a:t>
            </a:r>
          </a:p>
          <a:p>
            <a:r>
              <a:rPr lang="en-US" sz="2800" b="1" dirty="0" smtClean="0">
                <a:latin typeface="Times New Roman" pitchFamily="18" charset="0"/>
                <a:cs typeface="Times New Roman" pitchFamily="18" charset="0"/>
              </a:rPr>
              <a:t>Do not use a coding style that is too clever or too difficult to understand:</a:t>
            </a:r>
          </a:p>
          <a:p>
            <a:pPr lvl="1"/>
            <a:r>
              <a:rPr lang="en-US" dirty="0" smtClean="0">
                <a:latin typeface="Times New Roman" pitchFamily="18" charset="0"/>
                <a:cs typeface="Times New Roman" pitchFamily="18" charset="0"/>
              </a:rPr>
              <a:t>Code should be easy to understand. Many inexperienced engineers actually take pride in writing cryptic and incomprehensible code.</a:t>
            </a:r>
            <a:endParaRPr lang="en-US" b="1" dirty="0" smtClean="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57400" y="274638"/>
            <a:ext cx="5029200" cy="4111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4" name="Content Placeholder 3"/>
          <p:cNvSpPr>
            <a:spLocks noGrp="1"/>
          </p:cNvSpPr>
          <p:nvPr>
            <p:ph idx="1"/>
          </p:nvPr>
        </p:nvSpPr>
        <p:spPr>
          <a:xfrm>
            <a:off x="304800" y="1371600"/>
            <a:ext cx="8610600" cy="4724400"/>
          </a:xfrm>
        </p:spPr>
        <p:txBody>
          <a:bodyPr>
            <a:normAutofit/>
          </a:bodyPr>
          <a:lstStyle/>
          <a:p>
            <a:pPr>
              <a:buFont typeface="Wingdings" pitchFamily="2" charset="2"/>
              <a:buChar char="Ø"/>
            </a:pPr>
            <a:r>
              <a:rPr lang="en-US" sz="2800" b="1" dirty="0" smtClean="0">
                <a:latin typeface="Times New Roman" pitchFamily="18" charset="0"/>
                <a:cs typeface="Times New Roman" pitchFamily="18" charset="0"/>
              </a:rPr>
              <a:t>Avoid obscure side effects:</a:t>
            </a:r>
          </a:p>
          <a:p>
            <a:r>
              <a:rPr lang="en-US" sz="2800" dirty="0" smtClean="0">
                <a:latin typeface="Times New Roman" pitchFamily="18" charset="0"/>
                <a:cs typeface="Times New Roman" pitchFamily="18" charset="0"/>
              </a:rPr>
              <a:t>The side effects of a function call include modifications to the parameters passed by reference, modification of global variables, and I/O operations.</a:t>
            </a:r>
          </a:p>
          <a:p>
            <a:r>
              <a:rPr lang="en-US" sz="2800" dirty="0" smtClean="0"/>
              <a:t>An obscure side effect is one that is not obvious from a casual examination of the code. </a:t>
            </a:r>
          </a:p>
          <a:p>
            <a:r>
              <a:rPr lang="en-US" sz="2800" dirty="0" smtClean="0"/>
              <a:t>Obscure side effects make it difficult to understand a piece of code.</a:t>
            </a:r>
            <a:endParaRPr lang="en-US" sz="2800" b="1" dirty="0" smtClean="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57400" y="274638"/>
            <a:ext cx="5029200" cy="4111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4" name="Content Placeholder 3"/>
          <p:cNvSpPr>
            <a:spLocks noGrp="1"/>
          </p:cNvSpPr>
          <p:nvPr>
            <p:ph idx="1"/>
          </p:nvPr>
        </p:nvSpPr>
        <p:spPr>
          <a:xfrm>
            <a:off x="304800" y="990600"/>
            <a:ext cx="8610600" cy="5486400"/>
          </a:xfrm>
        </p:spPr>
        <p:txBody>
          <a:bodyPr>
            <a:normAutofit/>
          </a:bodyPr>
          <a:lstStyle/>
          <a:p>
            <a:pPr>
              <a:buFont typeface="Wingdings" pitchFamily="2" charset="2"/>
              <a:buChar char="Ø"/>
            </a:pPr>
            <a:r>
              <a:rPr lang="en-US" sz="2800" b="1" dirty="0" smtClean="0">
                <a:latin typeface="Times New Roman" pitchFamily="18" charset="0"/>
                <a:cs typeface="Times New Roman" pitchFamily="18" charset="0"/>
              </a:rPr>
              <a:t>Do not use an identifier for multiple purposes:</a:t>
            </a:r>
          </a:p>
          <a:p>
            <a:r>
              <a:rPr lang="en-US" sz="2800" dirty="0" smtClean="0">
                <a:latin typeface="Times New Roman" pitchFamily="18" charset="0"/>
                <a:cs typeface="Times New Roman" pitchFamily="18" charset="0"/>
              </a:rPr>
              <a:t>Programmers often use the same identifier to denote several temporary entities.</a:t>
            </a:r>
          </a:p>
          <a:p>
            <a:r>
              <a:rPr lang="en-US" sz="2800" dirty="0" smtClean="0">
                <a:latin typeface="Times New Roman" pitchFamily="18" charset="0"/>
                <a:cs typeface="Times New Roman" pitchFamily="18" charset="0"/>
              </a:rPr>
              <a:t>Each variable should be given a descriptive name indicating its purpose. This is not possible if an identifier is used for multiple purposes.</a:t>
            </a:r>
          </a:p>
          <a:p>
            <a:r>
              <a:rPr lang="en-US" sz="2800" dirty="0" smtClean="0">
                <a:latin typeface="Times New Roman" pitchFamily="18" charset="0"/>
                <a:cs typeface="Times New Roman" pitchFamily="18" charset="0"/>
              </a:rPr>
              <a:t> Use of a variable for multiple purposes can lead to confusion and make it difficult for somebody trying to read and understand the code.</a:t>
            </a:r>
            <a:endParaRPr lang="en-US" sz="2800" b="1" dirty="0" smtClean="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57400" y="274638"/>
            <a:ext cx="5029200" cy="411162"/>
          </a:xfrm>
        </p:spPr>
        <p:txBody>
          <a:bodyPr>
            <a:normAutofit fontScale="90000"/>
          </a:bodyPr>
          <a:lstStyle/>
          <a:p>
            <a:pPr lvl="1" algn="ctr" rtl="0">
              <a:spcBef>
                <a:spcPct val="0"/>
              </a:spcBef>
            </a:pPr>
            <a:r>
              <a:rPr lang="en-US" sz="3200" dirty="0" smtClean="0">
                <a:solidFill>
                  <a:srgbClr val="FF0000"/>
                </a:solidFill>
                <a:latin typeface="Times New Roman" pitchFamily="18" charset="0"/>
                <a:cs typeface="Times New Roman" pitchFamily="18" charset="0"/>
              </a:rPr>
              <a:t>Coding Standard and Guidelines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4" name="Content Placeholder 3"/>
          <p:cNvSpPr>
            <a:spLocks noGrp="1"/>
          </p:cNvSpPr>
          <p:nvPr>
            <p:ph idx="1"/>
          </p:nvPr>
        </p:nvSpPr>
        <p:spPr>
          <a:xfrm>
            <a:off x="304800" y="990600"/>
            <a:ext cx="8610600" cy="5486400"/>
          </a:xfrm>
        </p:spPr>
        <p:txBody>
          <a:bodyPr>
            <a:normAutofit/>
          </a:bodyPr>
          <a:lstStyle/>
          <a:p>
            <a:pPr>
              <a:buNone/>
            </a:pPr>
            <a:r>
              <a:rPr lang="en-US" sz="2800" b="1" dirty="0" smtClean="0">
                <a:latin typeface="Times New Roman" pitchFamily="18" charset="0"/>
                <a:cs typeface="Times New Roman" pitchFamily="18" charset="0"/>
              </a:rPr>
              <a:t>Length of any function should not exceed 10 source lines: </a:t>
            </a:r>
          </a:p>
          <a:p>
            <a:r>
              <a:rPr lang="en-US" sz="2800" dirty="0" smtClean="0">
                <a:latin typeface="Times New Roman" pitchFamily="18" charset="0"/>
                <a:cs typeface="Times New Roman" pitchFamily="18" charset="0"/>
              </a:rPr>
              <a:t>A lengthy function is usually very difficult to understand as it probably has a large number of variables and carries out many different types of computations. </a:t>
            </a:r>
          </a:p>
          <a:p>
            <a:r>
              <a:rPr lang="en-US" sz="2800" dirty="0" smtClean="0">
                <a:latin typeface="Times New Roman" pitchFamily="18" charset="0"/>
                <a:cs typeface="Times New Roman" pitchFamily="18" charset="0"/>
              </a:rPr>
              <a:t>For the same reason, lengthy functions are likely to have disproportionately larger number of bugs.</a:t>
            </a:r>
          </a:p>
          <a:p>
            <a:pPr>
              <a:buNone/>
            </a:pPr>
            <a:r>
              <a:rPr lang="en-US" sz="2800" b="1" dirty="0" smtClean="0">
                <a:latin typeface="Times New Roman" pitchFamily="18" charset="0"/>
                <a:cs typeface="Times New Roman" pitchFamily="18" charset="0"/>
              </a:rPr>
              <a:t>Do not use GO TO statements:</a:t>
            </a:r>
          </a:p>
          <a:p>
            <a:r>
              <a:rPr lang="en-US" sz="2800" dirty="0" smtClean="0">
                <a:latin typeface="Times New Roman" pitchFamily="18" charset="0"/>
                <a:cs typeface="Times New Roman" pitchFamily="18" charset="0"/>
              </a:rPr>
              <a:t>Use of GO TO statements makes a program unstructured. This makes the program very difficult to understand, debug, and maintain.</a:t>
            </a:r>
            <a:endParaRPr lang="en-US" sz="2800" b="1" dirty="0" smtClean="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57400" y="274638"/>
            <a:ext cx="5029200" cy="411162"/>
          </a:xfrm>
        </p:spPr>
        <p:txBody>
          <a:bodyPr>
            <a:noAutofit/>
          </a:bodyPr>
          <a:lstStyle/>
          <a:p>
            <a:pPr lvl="1" algn="ctr" rtl="0">
              <a:spcBef>
                <a:spcPct val="0"/>
              </a:spcBef>
            </a:pPr>
            <a:r>
              <a:rPr lang="en-US" sz="3200" b="1" dirty="0">
                <a:solidFill>
                  <a:srgbClr val="FF0000"/>
                </a:solidFill>
                <a:latin typeface="Times New Roman" pitchFamily="18" charset="0"/>
                <a:cs typeface="Times New Roman" pitchFamily="18" charset="0"/>
              </a:rPr>
              <a:t>CODE REVIEW</a:t>
            </a:r>
            <a:endParaRPr lang="en-US" sz="2000" dirty="0">
              <a:solidFill>
                <a:srgbClr val="FF0000"/>
              </a:solidFill>
              <a:latin typeface="Times New Roman" pitchFamily="18" charset="0"/>
              <a:cs typeface="Times New Roman" pitchFamily="18" charset="0"/>
            </a:endParaRPr>
          </a:p>
        </p:txBody>
      </p:sp>
      <p:sp>
        <p:nvSpPr>
          <p:cNvPr id="4" name="Content Placeholder 3"/>
          <p:cNvSpPr>
            <a:spLocks noGrp="1"/>
          </p:cNvSpPr>
          <p:nvPr>
            <p:ph idx="1"/>
          </p:nvPr>
        </p:nvSpPr>
        <p:spPr>
          <a:xfrm>
            <a:off x="304800" y="914400"/>
            <a:ext cx="8610600" cy="5562600"/>
          </a:xfrm>
        </p:spPr>
        <p:txBody>
          <a:bodyPr>
            <a:normAutofit/>
          </a:bodyPr>
          <a:lstStyle/>
          <a:p>
            <a:r>
              <a:rPr lang="en-US" sz="2800" dirty="0" smtClean="0">
                <a:latin typeface="Times New Roman" pitchFamily="18" charset="0"/>
                <a:cs typeface="Times New Roman" pitchFamily="18" charset="0"/>
              </a:rPr>
              <a:t>Testing is an effective defect removal mechanism. However, testing is applicable to only executable code.</a:t>
            </a:r>
          </a:p>
          <a:p>
            <a:r>
              <a:rPr lang="en-US" sz="2800" dirty="0" smtClean="0">
                <a:latin typeface="Times New Roman" pitchFamily="18" charset="0"/>
                <a:cs typeface="Times New Roman" pitchFamily="18" charset="0"/>
              </a:rPr>
              <a:t>Review is a very effective technique to remove defects from source code.</a:t>
            </a:r>
          </a:p>
          <a:p>
            <a:r>
              <a:rPr lang="en-US" sz="2800" dirty="0" smtClean="0">
                <a:latin typeface="Times New Roman" pitchFamily="18" charset="0"/>
                <a:cs typeface="Times New Roman" pitchFamily="18" charset="0"/>
              </a:rPr>
              <a:t>review has been acknowledged to be more cost-effective in removing defects as compared to testing.</a:t>
            </a:r>
          </a:p>
          <a:p>
            <a:r>
              <a:rPr lang="en-US" sz="2800" dirty="0" smtClean="0">
                <a:latin typeface="Times New Roman" pitchFamily="18" charset="0"/>
                <a:cs typeface="Times New Roman" pitchFamily="18" charset="0"/>
              </a:rPr>
              <a:t>Code review for a module is undertaken after the module successfully compiles.</a:t>
            </a:r>
          </a:p>
          <a:p>
            <a:r>
              <a:rPr lang="en-US" sz="2800" dirty="0" smtClean="0">
                <a:latin typeface="Times New Roman" pitchFamily="18" charset="0"/>
                <a:cs typeface="Times New Roman" pitchFamily="18" charset="0"/>
              </a:rPr>
              <a:t>code review does not target to design syntax errors in a program, but is designed to detect logical, algorithmic, and programming errors.</a:t>
            </a:r>
            <a:endParaRPr lang="en-US" sz="2800" b="1" dirty="0" smtClean="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57400" y="274638"/>
            <a:ext cx="5029200" cy="411162"/>
          </a:xfrm>
        </p:spPr>
        <p:txBody>
          <a:bodyPr>
            <a:noAutofit/>
          </a:bodyPr>
          <a:lstStyle/>
          <a:p>
            <a:pPr lvl="1" algn="ctr" rtl="0">
              <a:spcBef>
                <a:spcPct val="0"/>
              </a:spcBef>
            </a:pPr>
            <a:r>
              <a:rPr lang="en-US" sz="3200" b="1" dirty="0">
                <a:solidFill>
                  <a:srgbClr val="FF0000"/>
                </a:solidFill>
                <a:latin typeface="Times New Roman" pitchFamily="18" charset="0"/>
                <a:cs typeface="Times New Roman" pitchFamily="18" charset="0"/>
              </a:rPr>
              <a:t>CODE REVIEW</a:t>
            </a:r>
            <a:endParaRPr lang="en-US" sz="2000" dirty="0">
              <a:solidFill>
                <a:srgbClr val="FF0000"/>
              </a:solidFill>
              <a:latin typeface="Times New Roman" pitchFamily="18" charset="0"/>
              <a:cs typeface="Times New Roman" pitchFamily="18" charset="0"/>
            </a:endParaRPr>
          </a:p>
        </p:txBody>
      </p:sp>
      <p:sp>
        <p:nvSpPr>
          <p:cNvPr id="4" name="Content Placeholder 3"/>
          <p:cNvSpPr>
            <a:spLocks noGrp="1"/>
          </p:cNvSpPr>
          <p:nvPr>
            <p:ph idx="1"/>
          </p:nvPr>
        </p:nvSpPr>
        <p:spPr>
          <a:xfrm>
            <a:off x="304800" y="762000"/>
            <a:ext cx="8610600" cy="5943600"/>
          </a:xfrm>
        </p:spPr>
        <p:txBody>
          <a:bodyPr>
            <a:normAutofit/>
          </a:bodyPr>
          <a:lstStyle/>
          <a:p>
            <a:r>
              <a:rPr lang="en-US" sz="2800" dirty="0" smtClean="0">
                <a:latin typeface="Times New Roman" pitchFamily="18" charset="0"/>
                <a:cs typeface="Times New Roman" pitchFamily="18" charset="0"/>
              </a:rPr>
              <a:t>Eliminating an error from code involves three main activities</a:t>
            </a:r>
          </a:p>
          <a:p>
            <a:pPr lvl="1"/>
            <a:r>
              <a:rPr lang="en-US" dirty="0" smtClean="0">
                <a:solidFill>
                  <a:srgbClr val="FF0000"/>
                </a:solidFill>
                <a:latin typeface="Times New Roman" pitchFamily="18" charset="0"/>
                <a:cs typeface="Times New Roman" pitchFamily="18" charset="0"/>
              </a:rPr>
              <a:t>testing, </a:t>
            </a:r>
          </a:p>
          <a:p>
            <a:pPr lvl="1"/>
            <a:r>
              <a:rPr lang="en-US" dirty="0" smtClean="0">
                <a:solidFill>
                  <a:srgbClr val="FF0000"/>
                </a:solidFill>
                <a:latin typeface="Times New Roman" pitchFamily="18" charset="0"/>
                <a:cs typeface="Times New Roman" pitchFamily="18" charset="0"/>
              </a:rPr>
              <a:t>debugging, and then correcting the errors.</a:t>
            </a:r>
          </a:p>
          <a:p>
            <a:r>
              <a:rPr lang="en-US" sz="2800" dirty="0" smtClean="0"/>
              <a:t>Testing is carried out to detect if the system fails to work satisfactorily for certain types of inputs and under certain circumstances.</a:t>
            </a:r>
          </a:p>
          <a:p>
            <a:r>
              <a:rPr lang="en-US" sz="2800" dirty="0" smtClean="0"/>
              <a:t>debugging is carried out to locate the error that is causing the failure and to remove it.</a:t>
            </a:r>
          </a:p>
          <a:p>
            <a:r>
              <a:rPr lang="en-US" sz="2800" dirty="0" smtClean="0"/>
              <a:t>errors are directly detected, thereby saving the significant effort that would have been required to locate the error.</a:t>
            </a:r>
          </a:p>
          <a:p>
            <a:endParaRPr lang="en-US" sz="2800" b="1" dirty="0" smtClean="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33600" y="152400"/>
            <a:ext cx="5029200" cy="411162"/>
          </a:xfrm>
        </p:spPr>
        <p:txBody>
          <a:bodyPr>
            <a:noAutofit/>
          </a:bodyPr>
          <a:lstStyle/>
          <a:p>
            <a:pPr lvl="1" algn="ctr" rtl="0">
              <a:spcBef>
                <a:spcPct val="0"/>
              </a:spcBef>
            </a:pPr>
            <a:r>
              <a:rPr lang="en-US" sz="3200" b="1" dirty="0">
                <a:solidFill>
                  <a:srgbClr val="FF0000"/>
                </a:solidFill>
                <a:latin typeface="Times New Roman" pitchFamily="18" charset="0"/>
                <a:cs typeface="Times New Roman" pitchFamily="18" charset="0"/>
              </a:rPr>
              <a:t>CODE REVIEW</a:t>
            </a:r>
            <a:endParaRPr lang="en-US" sz="2000" dirty="0">
              <a:solidFill>
                <a:srgbClr val="FF0000"/>
              </a:solidFill>
              <a:latin typeface="Times New Roman" pitchFamily="18" charset="0"/>
              <a:cs typeface="Times New Roman" pitchFamily="18" charset="0"/>
            </a:endParaRPr>
          </a:p>
        </p:txBody>
      </p:sp>
      <p:sp>
        <p:nvSpPr>
          <p:cNvPr id="4" name="Content Placeholder 3"/>
          <p:cNvSpPr>
            <a:spLocks noGrp="1"/>
          </p:cNvSpPr>
          <p:nvPr>
            <p:ph idx="1"/>
          </p:nvPr>
        </p:nvSpPr>
        <p:spPr>
          <a:xfrm>
            <a:off x="152400" y="609600"/>
            <a:ext cx="8763000" cy="6096000"/>
          </a:xfrm>
        </p:spPr>
        <p:txBody>
          <a:bodyPr>
            <a:noAutofit/>
          </a:bodyPr>
          <a:lstStyle/>
          <a:p>
            <a:pPr>
              <a:buNone/>
            </a:pPr>
            <a:r>
              <a:rPr lang="en-US" sz="2800" dirty="0" smtClean="0">
                <a:latin typeface="Times New Roman" pitchFamily="18" charset="0"/>
                <a:cs typeface="Times New Roman" pitchFamily="18" charset="0"/>
              </a:rPr>
              <a:t>The following two types of reviews are carried out on the code of a module:</a:t>
            </a:r>
          </a:p>
          <a:p>
            <a:pPr lvl="1"/>
            <a:r>
              <a:rPr lang="en-US" dirty="0" smtClean="0">
                <a:solidFill>
                  <a:srgbClr val="FF0000"/>
                </a:solidFill>
                <a:latin typeface="Times New Roman" pitchFamily="18" charset="0"/>
                <a:cs typeface="Times New Roman" pitchFamily="18" charset="0"/>
              </a:rPr>
              <a:t>Code walkthrough.</a:t>
            </a:r>
          </a:p>
          <a:p>
            <a:pPr lvl="1"/>
            <a:r>
              <a:rPr lang="en-US" dirty="0" smtClean="0">
                <a:solidFill>
                  <a:srgbClr val="FF0000"/>
                </a:solidFill>
                <a:latin typeface="Times New Roman" pitchFamily="18" charset="0"/>
                <a:cs typeface="Times New Roman" pitchFamily="18" charset="0"/>
              </a:rPr>
              <a:t>Code inspection.</a:t>
            </a:r>
          </a:p>
          <a:p>
            <a:pPr marL="342900" lvl="1" indent="-342900">
              <a:buNone/>
            </a:pPr>
            <a:r>
              <a:rPr lang="en-US" b="1" u="sng" dirty="0" smtClean="0">
                <a:latin typeface="Times New Roman" pitchFamily="18" charset="0"/>
                <a:cs typeface="Times New Roman" pitchFamily="18" charset="0"/>
              </a:rPr>
              <a:t>Code walkthrough:</a:t>
            </a:r>
          </a:p>
          <a:p>
            <a:pPr lvl="1"/>
            <a:r>
              <a:rPr lang="en-US" dirty="0" smtClean="0">
                <a:latin typeface="Times New Roman" pitchFamily="18" charset="0"/>
                <a:cs typeface="Times New Roman" pitchFamily="18" charset="0"/>
              </a:rPr>
              <a:t>Code walkthrough is an informal code analysis technique.</a:t>
            </a:r>
          </a:p>
          <a:p>
            <a:pPr lvl="1"/>
            <a:r>
              <a:rPr lang="en-US" dirty="0" smtClean="0">
                <a:latin typeface="Times New Roman" pitchFamily="18" charset="0"/>
                <a:cs typeface="Times New Roman" pitchFamily="18" charset="0"/>
              </a:rPr>
              <a:t> In this technique, a module is taken up for review after the module has been coded, successfully compiled, and all syntax errors have been eliminated.</a:t>
            </a:r>
          </a:p>
          <a:p>
            <a:pPr lvl="1"/>
            <a:r>
              <a:rPr lang="en-US" dirty="0" smtClean="0">
                <a:latin typeface="Times New Roman" pitchFamily="18" charset="0"/>
                <a:cs typeface="Times New Roman" pitchFamily="18" charset="0"/>
              </a:rPr>
              <a:t>A few members of the development team are given the code a couple of days before the walkthrough meeting.</a:t>
            </a:r>
            <a:endParaRPr lang="en-US" dirty="0" smtClean="0">
              <a:solidFill>
                <a:srgbClr val="FF0000"/>
              </a:solidFill>
              <a:latin typeface="Times New Roman" pitchFamily="18" charset="0"/>
              <a:cs typeface="Times New Roman" pitchFamily="18" charset="0"/>
            </a:endParaRPr>
          </a:p>
          <a:p>
            <a:endParaRPr lang="en-US" sz="2800" b="1" dirty="0" smtClean="0">
              <a:solidFill>
                <a:srgbClr val="FF0000"/>
              </a:solidFill>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33600" y="152400"/>
            <a:ext cx="5029200" cy="411162"/>
          </a:xfrm>
        </p:spPr>
        <p:txBody>
          <a:bodyPr>
            <a:noAutofit/>
          </a:bodyPr>
          <a:lstStyle/>
          <a:p>
            <a:pPr lvl="1" algn="ctr" rtl="0">
              <a:spcBef>
                <a:spcPct val="0"/>
              </a:spcBef>
            </a:pPr>
            <a:r>
              <a:rPr lang="en-US" sz="3200" b="1" dirty="0">
                <a:solidFill>
                  <a:srgbClr val="FF0000"/>
                </a:solidFill>
                <a:latin typeface="Times New Roman" pitchFamily="18" charset="0"/>
                <a:cs typeface="Times New Roman" pitchFamily="18" charset="0"/>
              </a:rPr>
              <a:t>CODE REVIEW</a:t>
            </a:r>
            <a:endParaRPr lang="en-US" sz="2000" dirty="0">
              <a:solidFill>
                <a:srgbClr val="FF0000"/>
              </a:solidFill>
              <a:latin typeface="Times New Roman" pitchFamily="18" charset="0"/>
              <a:cs typeface="Times New Roman" pitchFamily="18" charset="0"/>
            </a:endParaRPr>
          </a:p>
        </p:txBody>
      </p:sp>
      <p:sp>
        <p:nvSpPr>
          <p:cNvPr id="4" name="Content Placeholder 3"/>
          <p:cNvSpPr>
            <a:spLocks noGrp="1"/>
          </p:cNvSpPr>
          <p:nvPr>
            <p:ph idx="1"/>
          </p:nvPr>
        </p:nvSpPr>
        <p:spPr>
          <a:xfrm>
            <a:off x="152400" y="685800"/>
            <a:ext cx="8763000" cy="5486400"/>
          </a:xfrm>
        </p:spPr>
        <p:txBody>
          <a:bodyPr>
            <a:noAutofit/>
          </a:bodyPr>
          <a:lstStyle/>
          <a:p>
            <a:r>
              <a:rPr lang="en-US" sz="2800" dirty="0" smtClean="0">
                <a:solidFill>
                  <a:srgbClr val="00B050"/>
                </a:solidFill>
                <a:latin typeface="Times New Roman" pitchFamily="18" charset="0"/>
                <a:cs typeface="Times New Roman" pitchFamily="18" charset="0"/>
              </a:rPr>
              <a:t>The main objective of code walkthrough is to discover the algorithmic and logical errors in the code.</a:t>
            </a:r>
          </a:p>
          <a:p>
            <a:r>
              <a:rPr lang="en-US" sz="2800" dirty="0" smtClean="0">
                <a:latin typeface="Times New Roman" pitchFamily="18" charset="0"/>
                <a:cs typeface="Times New Roman" pitchFamily="18" charset="0"/>
              </a:rPr>
              <a:t>The team performing code walkthrough should not be either too big or too small. Ideally, it should consist of between three to seven members.</a:t>
            </a:r>
          </a:p>
          <a:p>
            <a:r>
              <a:rPr lang="en-US" sz="2800" dirty="0" smtClean="0">
                <a:latin typeface="Times New Roman" pitchFamily="18" charset="0"/>
                <a:cs typeface="Times New Roman" pitchFamily="18" charset="0"/>
              </a:rPr>
              <a:t>Discussions should focus on discovery of errors and avoid deliberations on how to fix the discovered errors.</a:t>
            </a:r>
          </a:p>
          <a:p>
            <a:r>
              <a:rPr lang="en-US" sz="2800" dirty="0" smtClean="0">
                <a:latin typeface="Times New Roman" pitchFamily="18" charset="0"/>
                <a:cs typeface="Times New Roman" pitchFamily="18" charset="0"/>
              </a:rPr>
              <a:t>In order to foster co-operation and to avoid the feeling among the engineers that they are being watched and evaluated in the code walkthrough meetings, managers should not attend the walkthrough meetings.</a:t>
            </a:r>
            <a:endParaRPr lang="en-US" sz="2800" b="1" dirty="0" smtClean="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33600" y="152400"/>
            <a:ext cx="5029200" cy="411162"/>
          </a:xfrm>
        </p:spPr>
        <p:txBody>
          <a:bodyPr>
            <a:noAutofit/>
          </a:bodyPr>
          <a:lstStyle/>
          <a:p>
            <a:pPr lvl="1" algn="ctr" rtl="0">
              <a:spcBef>
                <a:spcPct val="0"/>
              </a:spcBef>
            </a:pPr>
            <a:r>
              <a:rPr lang="en-US" sz="3200" b="1" dirty="0">
                <a:solidFill>
                  <a:srgbClr val="FF0000"/>
                </a:solidFill>
                <a:latin typeface="Times New Roman" pitchFamily="18" charset="0"/>
                <a:cs typeface="Times New Roman" pitchFamily="18" charset="0"/>
              </a:rPr>
              <a:t>CODE REVIEW</a:t>
            </a:r>
            <a:endParaRPr lang="en-US" sz="2000" dirty="0">
              <a:solidFill>
                <a:srgbClr val="FF0000"/>
              </a:solidFill>
              <a:latin typeface="Times New Roman" pitchFamily="18" charset="0"/>
              <a:cs typeface="Times New Roman" pitchFamily="18" charset="0"/>
            </a:endParaRPr>
          </a:p>
        </p:txBody>
      </p:sp>
      <p:sp>
        <p:nvSpPr>
          <p:cNvPr id="4" name="Content Placeholder 3"/>
          <p:cNvSpPr>
            <a:spLocks noGrp="1"/>
          </p:cNvSpPr>
          <p:nvPr>
            <p:ph idx="1"/>
          </p:nvPr>
        </p:nvSpPr>
        <p:spPr>
          <a:xfrm>
            <a:off x="152400" y="762000"/>
            <a:ext cx="8763000" cy="5943600"/>
          </a:xfrm>
        </p:spPr>
        <p:txBody>
          <a:bodyPr>
            <a:noAutofit/>
          </a:bodyPr>
          <a:lstStyle/>
          <a:p>
            <a:pPr>
              <a:buNone/>
            </a:pPr>
            <a:r>
              <a:rPr lang="en-US" sz="2800" b="1" dirty="0" smtClean="0"/>
              <a:t>Code Inspection:</a:t>
            </a:r>
          </a:p>
          <a:p>
            <a:r>
              <a:rPr lang="en-US" sz="2800" dirty="0" smtClean="0">
                <a:latin typeface="Times New Roman" pitchFamily="18" charset="0"/>
                <a:cs typeface="Times New Roman" pitchFamily="18" charset="0"/>
              </a:rPr>
              <a:t>During code inspection, the code is examined for the presence of some common programming errors.</a:t>
            </a:r>
          </a:p>
          <a:p>
            <a:r>
              <a:rPr lang="en-US" sz="2800" dirty="0" smtClean="0">
                <a:latin typeface="Times New Roman" pitchFamily="18" charset="0"/>
                <a:cs typeface="Times New Roman" pitchFamily="18" charset="0"/>
              </a:rPr>
              <a:t>This is in contrast to the hand simulation of code execution carried out during code walkthroughs.</a:t>
            </a:r>
          </a:p>
          <a:p>
            <a:r>
              <a:rPr lang="en-US" sz="2800" dirty="0" smtClean="0">
                <a:solidFill>
                  <a:srgbClr val="00B050"/>
                </a:solidFill>
                <a:latin typeface="Times New Roman" pitchFamily="18" charset="0"/>
                <a:cs typeface="Times New Roman" pitchFamily="18" charset="0"/>
              </a:rPr>
              <a:t>The principal aim of code inspection is to check for the presence of some common types of errors that usually creep into code due to programmer mistakes and oversights and to check whether coding standards have been adhered to.</a:t>
            </a:r>
            <a:endParaRPr lang="en-US" sz="2800" b="1" dirty="0" smtClean="0">
              <a:solidFill>
                <a:srgbClr val="00B050"/>
              </a:solidFill>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33600" y="152400"/>
            <a:ext cx="5029200" cy="411162"/>
          </a:xfrm>
        </p:spPr>
        <p:txBody>
          <a:bodyPr>
            <a:noAutofit/>
          </a:bodyPr>
          <a:lstStyle/>
          <a:p>
            <a:pPr lvl="1" algn="ctr" rtl="0">
              <a:spcBef>
                <a:spcPct val="0"/>
              </a:spcBef>
            </a:pPr>
            <a:r>
              <a:rPr lang="en-US" sz="3200" b="1" dirty="0">
                <a:solidFill>
                  <a:srgbClr val="FF0000"/>
                </a:solidFill>
                <a:latin typeface="Times New Roman" pitchFamily="18" charset="0"/>
                <a:cs typeface="Times New Roman" pitchFamily="18" charset="0"/>
              </a:rPr>
              <a:t>CODE REVIEW</a:t>
            </a:r>
            <a:endParaRPr lang="en-US" sz="2000" dirty="0">
              <a:solidFill>
                <a:srgbClr val="FF0000"/>
              </a:solidFill>
              <a:latin typeface="Times New Roman" pitchFamily="18" charset="0"/>
              <a:cs typeface="Times New Roman" pitchFamily="18" charset="0"/>
            </a:endParaRPr>
          </a:p>
        </p:txBody>
      </p:sp>
      <p:pic>
        <p:nvPicPr>
          <p:cNvPr id="2053" name="Picture 5"/>
          <p:cNvPicPr>
            <a:picLocks noGrp="1" noChangeAspect="1" noChangeArrowheads="1"/>
          </p:cNvPicPr>
          <p:nvPr>
            <p:ph idx="1"/>
          </p:nvPr>
        </p:nvPicPr>
        <p:blipFill>
          <a:blip r:embed="rId2"/>
          <a:srcRect/>
          <a:stretch>
            <a:fillRect/>
          </a:stretch>
        </p:blipFill>
        <p:spPr bwMode="auto">
          <a:xfrm>
            <a:off x="0" y="914400"/>
            <a:ext cx="9144000" cy="54102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6629400" cy="639762"/>
          </a:xfrm>
        </p:spPr>
        <p:txBody>
          <a:bodyPr>
            <a:normAutofit/>
          </a:bodyPr>
          <a:lstStyle/>
          <a:p>
            <a:r>
              <a:rPr lang="en-US" sz="3200" b="1" dirty="0" smtClean="0">
                <a:solidFill>
                  <a:srgbClr val="FF0000"/>
                </a:solidFill>
                <a:latin typeface="Times New Roman" pitchFamily="18" charset="0"/>
                <a:cs typeface="Times New Roman" pitchFamily="18" charset="0"/>
              </a:rPr>
              <a:t>SOFTWARE DOCUMENTATION</a:t>
            </a:r>
            <a:endParaRPr lang="en-US" sz="32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066800"/>
            <a:ext cx="8686800" cy="5486400"/>
          </a:xfrm>
        </p:spPr>
        <p:txBody>
          <a:bodyPr>
            <a:normAutofit/>
          </a:bodyPr>
          <a:lstStyle/>
          <a:p>
            <a:r>
              <a:rPr lang="en-US" sz="2800" dirty="0" smtClean="0">
                <a:latin typeface="Times New Roman" pitchFamily="18" charset="0"/>
                <a:cs typeface="Times New Roman" pitchFamily="18" charset="0"/>
              </a:rPr>
              <a:t>When a software is developed, in addition to the executable files and </a:t>
            </a:r>
          </a:p>
          <a:p>
            <a:r>
              <a:rPr lang="en-US" sz="2800" dirty="0" smtClean="0">
                <a:latin typeface="Times New Roman" pitchFamily="18" charset="0"/>
                <a:cs typeface="Times New Roman" pitchFamily="18" charset="0"/>
              </a:rPr>
              <a:t>The source code, several kinds of documents such as users’ manual, software requirements specification (SRS) document, design document, test document, installation manual, etc., are developed as part of the software engineering process.</a:t>
            </a:r>
          </a:p>
          <a:p>
            <a:r>
              <a:rPr lang="en-US" sz="2800" dirty="0" smtClean="0">
                <a:latin typeface="Times New Roman" pitchFamily="18" charset="0"/>
                <a:cs typeface="Times New Roman" pitchFamily="18" charset="0"/>
              </a:rPr>
              <a:t>All these documents are considered a vital part of any good software development practice. Good documents are helpful in the following ways:</a:t>
            </a:r>
            <a:endParaRPr lang="en-US" sz="28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6629400" cy="639762"/>
          </a:xfrm>
        </p:spPr>
        <p:txBody>
          <a:bodyPr>
            <a:normAutofit/>
          </a:bodyPr>
          <a:lstStyle/>
          <a:p>
            <a:r>
              <a:rPr lang="en-US" sz="3200" b="1" dirty="0" smtClean="0">
                <a:solidFill>
                  <a:srgbClr val="FF0000"/>
                </a:solidFill>
                <a:latin typeface="Times New Roman" pitchFamily="18" charset="0"/>
                <a:cs typeface="Times New Roman" pitchFamily="18" charset="0"/>
              </a:rPr>
              <a:t>SOFTWARE DOCUMENTATION</a:t>
            </a:r>
            <a:endParaRPr lang="en-US" sz="3200" dirty="0">
              <a:solidFill>
                <a:srgbClr val="FF0000"/>
              </a:solidFill>
              <a:latin typeface="Times New Roman" pitchFamily="18" charset="0"/>
              <a:cs typeface="Times New Roman" pitchFamily="18" charset="0"/>
            </a:endParaRPr>
          </a:p>
        </p:txBody>
      </p:sp>
      <p:pic>
        <p:nvPicPr>
          <p:cNvPr id="3074" name="Picture 2"/>
          <p:cNvPicPr>
            <a:picLocks noGrp="1" noChangeAspect="1" noChangeArrowheads="1"/>
          </p:cNvPicPr>
          <p:nvPr>
            <p:ph idx="1"/>
          </p:nvPr>
        </p:nvPicPr>
        <p:blipFill>
          <a:blip r:embed="rId2"/>
          <a:srcRect/>
          <a:stretch>
            <a:fillRect/>
          </a:stretch>
        </p:blipFill>
        <p:spPr bwMode="auto">
          <a:xfrm>
            <a:off x="228600" y="990600"/>
            <a:ext cx="8458200" cy="52578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200" b="1" dirty="0" smtClean="0">
                <a:solidFill>
                  <a:srgbClr val="FF0000"/>
                </a:solidFill>
                <a:latin typeface="Times New Roman" pitchFamily="18" charset="0"/>
                <a:cs typeface="Times New Roman" pitchFamily="18" charset="0"/>
              </a:rPr>
              <a:t>SOFTWARE DOCUMENTATION</a:t>
            </a:r>
            <a:endParaRPr lang="en-US" sz="3200" dirty="0"/>
          </a:p>
        </p:txBody>
      </p:sp>
      <p:sp>
        <p:nvSpPr>
          <p:cNvPr id="3" name="Content Placeholder 2"/>
          <p:cNvSpPr>
            <a:spLocks noGrp="1"/>
          </p:cNvSpPr>
          <p:nvPr>
            <p:ph idx="1"/>
          </p:nvPr>
        </p:nvSpPr>
        <p:spPr>
          <a:xfrm>
            <a:off x="228600" y="838200"/>
            <a:ext cx="8686800" cy="5715000"/>
          </a:xfrm>
        </p:spPr>
        <p:txBody>
          <a:bodyPr>
            <a:normAutofit/>
          </a:bodyPr>
          <a:lstStyle/>
          <a:p>
            <a:pPr>
              <a:buNone/>
            </a:pPr>
            <a:r>
              <a:rPr lang="en-US" sz="2800" b="1" dirty="0" smtClean="0">
                <a:latin typeface="Times New Roman" pitchFamily="18" charset="0"/>
                <a:cs typeface="Times New Roman" pitchFamily="18" charset="0"/>
              </a:rPr>
              <a:t>Different types of software documents can broadly be classified into the following:</a:t>
            </a:r>
          </a:p>
          <a:p>
            <a:r>
              <a:rPr lang="en-US" sz="2800" b="1" dirty="0" smtClean="0">
                <a:latin typeface="Times New Roman" pitchFamily="18" charset="0"/>
                <a:cs typeface="Times New Roman" pitchFamily="18" charset="0"/>
              </a:rPr>
              <a:t>Internal documentation: </a:t>
            </a:r>
          </a:p>
          <a:p>
            <a:pPr lvl="1"/>
            <a:r>
              <a:rPr lang="en-US" dirty="0" smtClean="0">
                <a:solidFill>
                  <a:srgbClr val="00B050"/>
                </a:solidFill>
                <a:latin typeface="Times New Roman" pitchFamily="18" charset="0"/>
                <a:cs typeface="Times New Roman" pitchFamily="18" charset="0"/>
              </a:rPr>
              <a:t>These are provided in the source code itself. </a:t>
            </a:r>
          </a:p>
          <a:p>
            <a:r>
              <a:rPr lang="en-US" sz="2800" b="1" dirty="0" smtClean="0">
                <a:latin typeface="Times New Roman" pitchFamily="18" charset="0"/>
                <a:cs typeface="Times New Roman" pitchFamily="18" charset="0"/>
              </a:rPr>
              <a:t>External documentation: </a:t>
            </a:r>
          </a:p>
          <a:p>
            <a:pPr lvl="1"/>
            <a:r>
              <a:rPr lang="en-US" dirty="0" smtClean="0">
                <a:solidFill>
                  <a:srgbClr val="00B050"/>
                </a:solidFill>
                <a:latin typeface="Times New Roman" pitchFamily="18" charset="0"/>
                <a:cs typeface="Times New Roman" pitchFamily="18" charset="0"/>
              </a:rPr>
              <a:t>These are the supporting documents such as SRS document, installation document, user manual, design document, and test document.</a:t>
            </a:r>
          </a:p>
          <a:p>
            <a:r>
              <a:rPr lang="en-US" sz="2800" dirty="0" smtClean="0">
                <a:solidFill>
                  <a:srgbClr val="00B050"/>
                </a:solidFill>
                <a:latin typeface="Times New Roman" pitchFamily="18" charset="0"/>
                <a:cs typeface="Times New Roman" pitchFamily="18" charset="0"/>
              </a:rPr>
              <a:t>Careful experiments suggest that out of all types of internal documentation, meaningful variable names is most useful while trying to understand a piece of code.</a:t>
            </a:r>
            <a:endParaRPr lang="en-US" sz="2800" dirty="0">
              <a:solidFill>
                <a:srgbClr val="00B050"/>
              </a:solidFill>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r>
              <a:rPr lang="en-US" sz="3200" b="1" dirty="0" smtClean="0">
                <a:solidFill>
                  <a:srgbClr val="FF0000"/>
                </a:solidFill>
                <a:latin typeface="Times New Roman" pitchFamily="18" charset="0"/>
                <a:cs typeface="Times New Roman" pitchFamily="18" charset="0"/>
              </a:rPr>
              <a:t>External Documentation</a:t>
            </a:r>
            <a:endParaRPr lang="en-US" sz="3200" dirty="0">
              <a:solidFill>
                <a:srgbClr val="FF0000"/>
              </a:solidFill>
            </a:endParaRPr>
          </a:p>
        </p:txBody>
      </p:sp>
      <p:pic>
        <p:nvPicPr>
          <p:cNvPr id="5123" name="Picture 3"/>
          <p:cNvPicPr>
            <a:picLocks noGrp="1" noChangeAspect="1" noChangeArrowheads="1"/>
          </p:cNvPicPr>
          <p:nvPr>
            <p:ph idx="1"/>
          </p:nvPr>
        </p:nvPicPr>
        <p:blipFill>
          <a:blip r:embed="rId2"/>
          <a:srcRect/>
          <a:stretch>
            <a:fillRect/>
          </a:stretch>
        </p:blipFill>
        <p:spPr bwMode="auto">
          <a:xfrm>
            <a:off x="228600" y="838200"/>
            <a:ext cx="8686800" cy="5486399"/>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r>
              <a:rPr lang="en-US" sz="3200" b="1" dirty="0" smtClean="0">
                <a:solidFill>
                  <a:srgbClr val="FF0000"/>
                </a:solidFill>
                <a:latin typeface="Times New Roman" pitchFamily="18" charset="0"/>
                <a:cs typeface="Times New Roman" pitchFamily="18" charset="0"/>
              </a:rPr>
              <a:t>External Documentation</a:t>
            </a:r>
            <a:endParaRPr lang="en-US" sz="3200" dirty="0">
              <a:solidFill>
                <a:srgbClr val="FF0000"/>
              </a:solidFill>
            </a:endParaRPr>
          </a:p>
        </p:txBody>
      </p:sp>
      <p:sp>
        <p:nvSpPr>
          <p:cNvPr id="4" name="Content Placeholder 3"/>
          <p:cNvSpPr>
            <a:spLocks noGrp="1"/>
          </p:cNvSpPr>
          <p:nvPr>
            <p:ph idx="1"/>
          </p:nvPr>
        </p:nvSpPr>
        <p:spPr>
          <a:xfrm>
            <a:off x="304800" y="762000"/>
            <a:ext cx="8610600" cy="3886200"/>
          </a:xfrm>
        </p:spPr>
        <p:txBody>
          <a:bodyPr/>
          <a:lstStyle/>
          <a:p>
            <a:pPr>
              <a:buNone/>
            </a:pPr>
            <a:r>
              <a:rPr lang="en-US" b="1" dirty="0" smtClean="0"/>
              <a:t>Gunning’s fog index:</a:t>
            </a:r>
          </a:p>
          <a:p>
            <a:pPr lvl="1"/>
            <a:r>
              <a:rPr lang="en-US" dirty="0" smtClean="0"/>
              <a:t>Gunning’s fog index (developed by Robert Gunning in 1952) is a metric that has been designed to measure the readability of a document.</a:t>
            </a:r>
          </a:p>
          <a:p>
            <a:pPr lvl="1"/>
            <a:r>
              <a:rPr lang="en-US" dirty="0" smtClean="0"/>
              <a:t>The computed metric value (fog index) of a document indicates the number of years of formal education that a person should have, in order to be able to comfortably understand that document.</a:t>
            </a:r>
          </a:p>
          <a:p>
            <a:pPr lvl="1"/>
            <a:endParaRPr lang="en-US" dirty="0"/>
          </a:p>
        </p:txBody>
      </p:sp>
      <p:pic>
        <p:nvPicPr>
          <p:cNvPr id="6150" name="Picture 6"/>
          <p:cNvPicPr>
            <a:picLocks noChangeAspect="1" noChangeArrowheads="1"/>
          </p:cNvPicPr>
          <p:nvPr/>
        </p:nvPicPr>
        <p:blipFill>
          <a:blip r:embed="rId2"/>
          <a:srcRect/>
          <a:stretch>
            <a:fillRect/>
          </a:stretch>
        </p:blipFill>
        <p:spPr bwMode="auto">
          <a:xfrm>
            <a:off x="0" y="4800600"/>
            <a:ext cx="8831263" cy="657225"/>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r>
              <a:rPr lang="en-US" sz="3600" b="1" dirty="0" smtClean="0">
                <a:solidFill>
                  <a:srgbClr val="FF0000"/>
                </a:solidFill>
                <a:latin typeface="Times New Roman" pitchFamily="18" charset="0"/>
                <a:cs typeface="Times New Roman" pitchFamily="18" charset="0"/>
              </a:rPr>
              <a:t>Gunning’s fog index</a:t>
            </a:r>
            <a:r>
              <a:rPr lang="en-US" b="1" dirty="0" smtClean="0"/>
              <a:t/>
            </a:r>
            <a:br>
              <a:rPr lang="en-US" b="1" dirty="0" smtClean="0"/>
            </a:b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304800" y="762000"/>
            <a:ext cx="8229600" cy="1493602"/>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152400" y="2514600"/>
            <a:ext cx="8458200" cy="2085975"/>
          </a:xfrm>
          <a:prstGeom prst="rect">
            <a:avLst/>
          </a:prstGeom>
          <a:noFill/>
          <a:ln w="9525">
            <a:noFill/>
            <a:miter lim="800000"/>
            <a:headEnd/>
            <a:tailEnd/>
          </a:ln>
          <a:effectLst/>
        </p:spPr>
      </p:pic>
      <p:pic>
        <p:nvPicPr>
          <p:cNvPr id="7172" name="Picture 4"/>
          <p:cNvPicPr>
            <a:picLocks noChangeAspect="1" noChangeArrowheads="1"/>
          </p:cNvPicPr>
          <p:nvPr/>
        </p:nvPicPr>
        <p:blipFill>
          <a:blip r:embed="rId4"/>
          <a:srcRect/>
          <a:stretch>
            <a:fillRect/>
          </a:stretch>
        </p:blipFill>
        <p:spPr bwMode="auto">
          <a:xfrm>
            <a:off x="152400" y="4648200"/>
            <a:ext cx="8610600" cy="14478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28600"/>
            <a:ext cx="2286000" cy="334962"/>
          </a:xfrm>
        </p:spPr>
        <p:txBody>
          <a:bodyPr>
            <a:noAutofit/>
          </a:bodyPr>
          <a:lstStyle/>
          <a:p>
            <a:r>
              <a:rPr lang="en-US" sz="3600" dirty="0" smtClean="0">
                <a:solidFill>
                  <a:srgbClr val="FF0000"/>
                </a:solidFill>
                <a:latin typeface="Times New Roman" pitchFamily="18" charset="0"/>
                <a:cs typeface="Times New Roman" pitchFamily="18" charset="0"/>
              </a:rPr>
              <a:t>TESTING</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 y="685800"/>
            <a:ext cx="8763000" cy="3962400"/>
          </a:xfrm>
        </p:spPr>
        <p:txBody>
          <a:bodyPr>
            <a:normAutofit/>
          </a:bodyPr>
          <a:lstStyle/>
          <a:p>
            <a:r>
              <a:rPr lang="en-US" sz="2600" dirty="0" smtClean="0">
                <a:latin typeface="Times New Roman" pitchFamily="18" charset="0"/>
                <a:cs typeface="Times New Roman" pitchFamily="18" charset="0"/>
              </a:rPr>
              <a:t>The aim of program testing is to help realize identify all defects in a program.</a:t>
            </a:r>
          </a:p>
          <a:p>
            <a:pPr>
              <a:buNone/>
            </a:pPr>
            <a:r>
              <a:rPr lang="en-US" sz="2600" b="1" dirty="0" smtClean="0">
                <a:latin typeface="Times New Roman" pitchFamily="18" charset="0"/>
                <a:cs typeface="Times New Roman" pitchFamily="18" charset="0"/>
              </a:rPr>
              <a:t>How to test a program?</a:t>
            </a:r>
          </a:p>
          <a:p>
            <a:r>
              <a:rPr lang="en-US" sz="2600" dirty="0" smtClean="0">
                <a:latin typeface="Times New Roman" pitchFamily="18" charset="0"/>
                <a:cs typeface="Times New Roman" pitchFamily="18" charset="0"/>
              </a:rPr>
              <a:t>Testing a program involves executing the program with a set of test inputs and observing if the program behaves as expected.</a:t>
            </a:r>
          </a:p>
          <a:p>
            <a:r>
              <a:rPr lang="en-US" sz="2600" dirty="0" smtClean="0">
                <a:latin typeface="Times New Roman" pitchFamily="18" charset="0"/>
                <a:cs typeface="Times New Roman" pitchFamily="18" charset="0"/>
              </a:rPr>
              <a:t>If the program fails to behave as expected, then the input data and the conditions under which it fails are noted for later debugging and error correction.</a:t>
            </a:r>
            <a:endParaRPr lang="en-US" sz="2600" b="1" dirty="0" smtClean="0">
              <a:latin typeface="Times New Roman" pitchFamily="18" charset="0"/>
              <a:cs typeface="Times New Roman" pitchFamily="18" charset="0"/>
            </a:endParaRPr>
          </a:p>
          <a:p>
            <a:pPr>
              <a:buNone/>
            </a:pPr>
            <a:endParaRPr lang="en-US" sz="2600" dirty="0" smtClean="0">
              <a:latin typeface="Times New Roman" pitchFamily="18" charset="0"/>
              <a:cs typeface="Times New Roman" pitchFamily="18" charset="0"/>
            </a:endParaRPr>
          </a:p>
          <a:p>
            <a:pPr>
              <a:buNone/>
            </a:pPr>
            <a:endParaRPr lang="en-US" sz="26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srcRect/>
          <a:stretch>
            <a:fillRect/>
          </a:stretch>
        </p:blipFill>
        <p:spPr bwMode="auto">
          <a:xfrm>
            <a:off x="1600200" y="4610100"/>
            <a:ext cx="5695950" cy="22479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152400"/>
            <a:ext cx="3276600" cy="457200"/>
          </a:xfrm>
        </p:spPr>
        <p:txBody>
          <a:bodyPr>
            <a:noAutofit/>
          </a:bodyPr>
          <a:lstStyle/>
          <a:p>
            <a:r>
              <a:rPr lang="en-US" sz="3600" b="1" dirty="0" smtClean="0">
                <a:solidFill>
                  <a:srgbClr val="FF0000"/>
                </a:solidFill>
                <a:latin typeface="Times New Roman" pitchFamily="18" charset="0"/>
                <a:cs typeface="Times New Roman" pitchFamily="18" charset="0"/>
              </a:rPr>
              <a:t>Terminologies</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 y="838200"/>
            <a:ext cx="8763000" cy="5791200"/>
          </a:xfrm>
        </p:spPr>
        <p:txBody>
          <a:bodyPr>
            <a:normAutofit/>
          </a:bodyPr>
          <a:lstStyle/>
          <a:p>
            <a:r>
              <a:rPr lang="en-US" sz="2800" dirty="0" smtClean="0">
                <a:latin typeface="Times New Roman" pitchFamily="18" charset="0"/>
                <a:cs typeface="Times New Roman" pitchFamily="18" charset="0"/>
              </a:rPr>
              <a:t>As is true for any specialized domain, the area of software testing has come to be associated with its own set of terminologies.</a:t>
            </a:r>
          </a:p>
          <a:p>
            <a:r>
              <a:rPr lang="en-US" sz="2800" dirty="0" smtClean="0">
                <a:latin typeface="Times New Roman" pitchFamily="18" charset="0"/>
                <a:cs typeface="Times New Roman" pitchFamily="18" charset="0"/>
              </a:rPr>
              <a:t>In the following, a few important terminologies that have been standardized by the IEEE Standard Glossary of Software Engineering Terminology [IEEE90]:</a:t>
            </a:r>
          </a:p>
          <a:p>
            <a:pPr lvl="1"/>
            <a:endParaRPr lang="en-US" sz="22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304800" y="3733800"/>
            <a:ext cx="8458200" cy="279082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228600"/>
            <a:ext cx="3276600" cy="457200"/>
          </a:xfrm>
        </p:spPr>
        <p:txBody>
          <a:bodyPr>
            <a:noAutofit/>
          </a:bodyPr>
          <a:lstStyle/>
          <a:p>
            <a:r>
              <a:rPr lang="en-US" sz="3600" b="1" dirty="0" smtClean="0">
                <a:solidFill>
                  <a:srgbClr val="FF0000"/>
                </a:solidFill>
                <a:latin typeface="Times New Roman" pitchFamily="18" charset="0"/>
                <a:cs typeface="Times New Roman" pitchFamily="18" charset="0"/>
              </a:rPr>
              <a:t>Terminologies</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 y="1447800"/>
            <a:ext cx="8763000" cy="3962400"/>
          </a:xfrm>
        </p:spPr>
        <p:txBody>
          <a:bodyPr>
            <a:normAutofit/>
          </a:bodyPr>
          <a:lstStyle/>
          <a:p>
            <a:r>
              <a:rPr lang="en-US" sz="2800" dirty="0" smtClean="0">
                <a:solidFill>
                  <a:srgbClr val="00B050"/>
                </a:solidFill>
                <a:latin typeface="Times New Roman" pitchFamily="18" charset="0"/>
                <a:cs typeface="Times New Roman" pitchFamily="18" charset="0"/>
              </a:rPr>
              <a:t>The terms error, fault, bug, and defect are considered to be synonyms in the area of program testing.</a:t>
            </a:r>
            <a:endParaRPr lang="en-US" sz="2600" dirty="0">
              <a:solidFill>
                <a:srgbClr val="00B050"/>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381000" y="3124200"/>
            <a:ext cx="8305800" cy="1495425"/>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52400"/>
            <a:ext cx="5562600" cy="639762"/>
          </a:xfrm>
        </p:spPr>
        <p:txBody>
          <a:bodyPr>
            <a:normAutofit fontScale="90000"/>
          </a:bodyPr>
          <a:lstStyle/>
          <a:p>
            <a:r>
              <a:rPr lang="en-US" sz="3600" dirty="0" smtClean="0">
                <a:solidFill>
                  <a:srgbClr val="FF0000"/>
                </a:solidFill>
                <a:latin typeface="Times New Roman" pitchFamily="18" charset="0"/>
                <a:cs typeface="Times New Roman" pitchFamily="18" charset="0"/>
              </a:rPr>
              <a:t>Verification versus validation</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762000"/>
            <a:ext cx="8686800" cy="5867400"/>
          </a:xfrm>
        </p:spPr>
        <p:txBody>
          <a:bodyPr>
            <a:normAutofit/>
          </a:bodyPr>
          <a:lstStyle/>
          <a:p>
            <a:r>
              <a:rPr lang="en-US" sz="2800" dirty="0" smtClean="0">
                <a:latin typeface="Times New Roman" pitchFamily="18" charset="0"/>
                <a:cs typeface="Times New Roman" pitchFamily="18" charset="0"/>
              </a:rPr>
              <a:t>The objectives of both verification and validation techniques are very similar since both these techniques are designed to help remove errors in a software.</a:t>
            </a:r>
          </a:p>
          <a:p>
            <a:endParaRPr lang="en-US" sz="28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152400" y="2438400"/>
            <a:ext cx="8763000" cy="340995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52400"/>
            <a:ext cx="5562600" cy="639762"/>
          </a:xfrm>
        </p:spPr>
        <p:txBody>
          <a:bodyPr>
            <a:normAutofit fontScale="90000"/>
          </a:bodyPr>
          <a:lstStyle/>
          <a:p>
            <a:r>
              <a:rPr lang="en-US" sz="3600" dirty="0" smtClean="0">
                <a:solidFill>
                  <a:srgbClr val="FF0000"/>
                </a:solidFill>
                <a:latin typeface="Times New Roman" pitchFamily="18" charset="0"/>
                <a:cs typeface="Times New Roman" pitchFamily="18" charset="0"/>
              </a:rPr>
              <a:t>Verification versus validation</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762000"/>
            <a:ext cx="8686800" cy="5867400"/>
          </a:xfrm>
        </p:spPr>
        <p:txBody>
          <a:bodyPr>
            <a:normAutofit/>
          </a:bodyPr>
          <a:lstStyle/>
          <a:p>
            <a:pPr>
              <a:buNone/>
            </a:pPr>
            <a:r>
              <a:rPr lang="en-US" sz="2800" dirty="0" smtClean="0">
                <a:solidFill>
                  <a:srgbClr val="FF0000"/>
                </a:solidFill>
                <a:latin typeface="Times New Roman" pitchFamily="18" charset="0"/>
                <a:cs typeface="Times New Roman" pitchFamily="18" charset="0"/>
              </a:rPr>
              <a:t>Continues…</a:t>
            </a:r>
            <a:endParaRPr lang="en-US" sz="2800" dirty="0">
              <a:solidFill>
                <a:srgbClr val="FF0000"/>
              </a:solidFill>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srcRect/>
          <a:stretch>
            <a:fillRect/>
          </a:stretch>
        </p:blipFill>
        <p:spPr bwMode="auto">
          <a:xfrm>
            <a:off x="609600" y="1295400"/>
            <a:ext cx="8229600" cy="450532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52400"/>
            <a:ext cx="5562600" cy="639762"/>
          </a:xfrm>
        </p:spPr>
        <p:txBody>
          <a:bodyPr>
            <a:normAutofit fontScale="90000"/>
          </a:bodyPr>
          <a:lstStyle/>
          <a:p>
            <a:r>
              <a:rPr lang="en-US" sz="3600" dirty="0" smtClean="0">
                <a:solidFill>
                  <a:srgbClr val="FF0000"/>
                </a:solidFill>
                <a:latin typeface="Times New Roman" pitchFamily="18" charset="0"/>
                <a:cs typeface="Times New Roman" pitchFamily="18" charset="0"/>
              </a:rPr>
              <a:t>Verification versus validation</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762000"/>
            <a:ext cx="8686800" cy="5867400"/>
          </a:xfrm>
        </p:spPr>
        <p:txBody>
          <a:bodyPr>
            <a:normAutofit/>
          </a:bodyPr>
          <a:lstStyle/>
          <a:p>
            <a:pPr>
              <a:buNone/>
            </a:pPr>
            <a:r>
              <a:rPr lang="en-US" sz="2800" dirty="0" smtClean="0">
                <a:solidFill>
                  <a:srgbClr val="FF0000"/>
                </a:solidFill>
                <a:latin typeface="Times New Roman" pitchFamily="18" charset="0"/>
                <a:cs typeface="Times New Roman" pitchFamily="18" charset="0"/>
              </a:rPr>
              <a:t>Continues…</a:t>
            </a:r>
            <a:endParaRPr lang="en-US" sz="2800" dirty="0">
              <a:solidFill>
                <a:srgbClr val="FF0000"/>
              </a:solidFill>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srcRect/>
          <a:stretch>
            <a:fillRect/>
          </a:stretch>
        </p:blipFill>
        <p:spPr bwMode="auto">
          <a:xfrm>
            <a:off x="228600" y="1447800"/>
            <a:ext cx="8610600" cy="2124075"/>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152400" y="3810000"/>
            <a:ext cx="8763000" cy="160020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52400"/>
            <a:ext cx="5562600" cy="639762"/>
          </a:xfrm>
        </p:spPr>
        <p:txBody>
          <a:bodyPr>
            <a:normAutofit fontScale="90000"/>
          </a:bodyPr>
          <a:lstStyle/>
          <a:p>
            <a:r>
              <a:rPr lang="en-US" sz="3600" dirty="0" smtClean="0">
                <a:solidFill>
                  <a:srgbClr val="FF0000"/>
                </a:solidFill>
                <a:latin typeface="Times New Roman" pitchFamily="18" charset="0"/>
                <a:cs typeface="Times New Roman" pitchFamily="18" charset="0"/>
              </a:rPr>
              <a:t>Verification versus validation</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762000"/>
            <a:ext cx="8686800" cy="5867400"/>
          </a:xfrm>
        </p:spPr>
        <p:txBody>
          <a:bodyPr>
            <a:normAutofit/>
          </a:bodyPr>
          <a:lstStyle/>
          <a:p>
            <a:r>
              <a:rPr lang="en-US" sz="2800" dirty="0" smtClean="0">
                <a:latin typeface="Times New Roman" pitchFamily="18" charset="0"/>
                <a:cs typeface="Times New Roman" pitchFamily="18" charset="0"/>
              </a:rPr>
              <a:t>Verification techniques can be viewed as an attempt to achieve phase containment of errors.</a:t>
            </a:r>
          </a:p>
          <a:p>
            <a:r>
              <a:rPr lang="en-US" sz="2800" dirty="0" smtClean="0">
                <a:latin typeface="Times New Roman" pitchFamily="18" charset="0"/>
                <a:cs typeface="Times New Roman" pitchFamily="18" charset="0"/>
              </a:rPr>
              <a:t>Phase containment of errors has been acknowledged to be a cost-effective way to eliminate program bugs, and is an important software engineering principle.</a:t>
            </a:r>
          </a:p>
          <a:p>
            <a:r>
              <a:rPr lang="en-US" sz="2800" dirty="0" smtClean="0">
                <a:latin typeface="Times New Roman" pitchFamily="18" charset="0"/>
                <a:cs typeface="Times New Roman" pitchFamily="18" charset="0"/>
              </a:rPr>
              <a:t>The principle of detecting errors as close to their points of commitment as possible is known as phase containment of errors.</a:t>
            </a:r>
          </a:p>
          <a:p>
            <a:r>
              <a:rPr lang="en-US" sz="2800" dirty="0" smtClean="0">
                <a:latin typeface="Times New Roman" pitchFamily="18" charset="0"/>
                <a:cs typeface="Times New Roman" pitchFamily="18" charset="0"/>
              </a:rPr>
              <a:t>Phase containment of errors can reduce the effort required for correcting bugs.</a:t>
            </a:r>
            <a:endParaRPr lang="en-US" sz="2800" dirty="0">
              <a:solidFill>
                <a:srgbClr val="FF0000"/>
              </a:solidFill>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52400"/>
            <a:ext cx="5562600" cy="639762"/>
          </a:xfrm>
        </p:spPr>
        <p:txBody>
          <a:bodyPr>
            <a:normAutofit fontScale="90000"/>
          </a:bodyPr>
          <a:lstStyle/>
          <a:p>
            <a:r>
              <a:rPr lang="en-US" sz="3600" dirty="0" smtClean="0">
                <a:solidFill>
                  <a:srgbClr val="FF0000"/>
                </a:solidFill>
                <a:latin typeface="Times New Roman" pitchFamily="18" charset="0"/>
                <a:cs typeface="Times New Roman" pitchFamily="18" charset="0"/>
              </a:rPr>
              <a:t>Verification versus validation</a:t>
            </a:r>
            <a:endParaRPr lang="en-US" sz="3600" dirty="0">
              <a:solidFill>
                <a:srgbClr val="FF0000"/>
              </a:solidFill>
              <a:latin typeface="Times New Roman" pitchFamily="18" charset="0"/>
              <a:cs typeface="Times New Roman" pitchFamily="18" charset="0"/>
            </a:endParaRPr>
          </a:p>
        </p:txBody>
      </p:sp>
      <p:pic>
        <p:nvPicPr>
          <p:cNvPr id="7170" name="Picture 2"/>
          <p:cNvPicPr>
            <a:picLocks noGrp="1" noChangeAspect="1" noChangeArrowheads="1"/>
          </p:cNvPicPr>
          <p:nvPr>
            <p:ph idx="1"/>
          </p:nvPr>
        </p:nvPicPr>
        <p:blipFill>
          <a:blip r:embed="rId2"/>
          <a:srcRect/>
          <a:stretch>
            <a:fillRect/>
          </a:stretch>
        </p:blipFill>
        <p:spPr bwMode="auto">
          <a:xfrm>
            <a:off x="228600" y="1219200"/>
            <a:ext cx="8686800" cy="825003"/>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152400" y="2514600"/>
            <a:ext cx="8991600" cy="742950"/>
          </a:xfrm>
          <a:prstGeom prst="rect">
            <a:avLst/>
          </a:prstGeom>
          <a:noFill/>
          <a:ln w="9525">
            <a:noFill/>
            <a:miter lim="800000"/>
            <a:headEnd/>
            <a:tailEnd/>
          </a:ln>
          <a:effectLst/>
        </p:spPr>
      </p:pic>
      <p:pic>
        <p:nvPicPr>
          <p:cNvPr id="7172" name="Picture 4"/>
          <p:cNvPicPr>
            <a:picLocks noChangeAspect="1" noChangeArrowheads="1"/>
          </p:cNvPicPr>
          <p:nvPr/>
        </p:nvPicPr>
        <p:blipFill>
          <a:blip r:embed="rId4"/>
          <a:srcRect/>
          <a:stretch>
            <a:fillRect/>
          </a:stretch>
        </p:blipFill>
        <p:spPr bwMode="auto">
          <a:xfrm>
            <a:off x="152400" y="3581400"/>
            <a:ext cx="8763000" cy="26289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3600" dirty="0" smtClean="0">
                <a:solidFill>
                  <a:srgbClr val="FF0000"/>
                </a:solidFill>
                <a:latin typeface="Times New Roman" pitchFamily="18" charset="0"/>
                <a:cs typeface="Times New Roman" pitchFamily="18" charset="0"/>
              </a:rPr>
              <a:t>Testing Activities</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914400"/>
            <a:ext cx="8686800" cy="5715000"/>
          </a:xfrm>
        </p:spPr>
        <p:txBody>
          <a:bodyPr>
            <a:normAutofit/>
          </a:bodyPr>
          <a:lstStyle/>
          <a:p>
            <a:r>
              <a:rPr lang="en-US" sz="2800" dirty="0" smtClean="0">
                <a:latin typeface="Times New Roman" pitchFamily="18" charset="0"/>
                <a:cs typeface="Times New Roman" pitchFamily="18" charset="0"/>
              </a:rPr>
              <a:t>Testing involves performing the following main activities:</a:t>
            </a:r>
            <a:endParaRPr lang="en-US" sz="2800"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srcRect/>
          <a:stretch>
            <a:fillRect/>
          </a:stretch>
        </p:blipFill>
        <p:spPr bwMode="auto">
          <a:xfrm>
            <a:off x="228600" y="1828800"/>
            <a:ext cx="8610600" cy="443865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3600" dirty="0" smtClean="0">
                <a:solidFill>
                  <a:srgbClr val="FF0000"/>
                </a:solidFill>
                <a:latin typeface="Times New Roman" pitchFamily="18" charset="0"/>
                <a:cs typeface="Times New Roman" pitchFamily="18" charset="0"/>
              </a:rPr>
              <a:t>Testing Activities</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914400"/>
            <a:ext cx="8686800" cy="5715000"/>
          </a:xfrm>
        </p:spPr>
        <p:txBody>
          <a:bodyPr>
            <a:normAutofit/>
          </a:bodyPr>
          <a:lstStyle/>
          <a:p>
            <a:r>
              <a:rPr lang="en-US" sz="2800" dirty="0" smtClean="0">
                <a:latin typeface="Times New Roman" pitchFamily="18" charset="0"/>
                <a:cs typeface="Times New Roman" pitchFamily="18" charset="0"/>
              </a:rPr>
              <a:t>Testing involves performing the following main activities:</a:t>
            </a:r>
            <a:endParaRPr lang="en-US" sz="28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srcRect/>
          <a:stretch>
            <a:fillRect/>
          </a:stretch>
        </p:blipFill>
        <p:spPr bwMode="auto">
          <a:xfrm>
            <a:off x="304799" y="1752600"/>
            <a:ext cx="8839201" cy="476250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5715000" cy="304800"/>
          </a:xfrm>
        </p:spPr>
        <p:txBody>
          <a:bodyPr>
            <a:noAutofit/>
          </a:bodyPr>
          <a:lstStyle/>
          <a:p>
            <a:r>
              <a:rPr lang="en-US" sz="3600" dirty="0" smtClean="0">
                <a:solidFill>
                  <a:srgbClr val="FF0000"/>
                </a:solidFill>
                <a:latin typeface="Times New Roman" pitchFamily="18" charset="0"/>
                <a:cs typeface="Times New Roman" pitchFamily="18" charset="0"/>
              </a:rPr>
              <a:t>Why Design Test Cases?</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914400"/>
            <a:ext cx="8686800" cy="5715000"/>
          </a:xfrm>
        </p:spPr>
        <p:txBody>
          <a:bodyPr>
            <a:normAutofit/>
          </a:bodyPr>
          <a:lstStyle/>
          <a:p>
            <a:r>
              <a:rPr lang="en-US" sz="2800" dirty="0" smtClean="0">
                <a:solidFill>
                  <a:srgbClr val="00B050"/>
                </a:solidFill>
                <a:latin typeface="Times New Roman" pitchFamily="18" charset="0"/>
                <a:cs typeface="Times New Roman" pitchFamily="18" charset="0"/>
              </a:rPr>
              <a:t>When test cases are designed based on random input data, many of the test cases do not contribute to the significance of the test suite, That is, they do not help detect any additional defects not already being detected by other test cases in the suite.</a:t>
            </a:r>
          </a:p>
          <a:p>
            <a:endParaRPr lang="en-US" sz="2800" dirty="0" smtClean="0">
              <a:solidFill>
                <a:srgbClr val="00B050"/>
              </a:solidFill>
              <a:latin typeface="Times New Roman" pitchFamily="18" charset="0"/>
              <a:cs typeface="Times New Roman" pitchFamily="18" charset="0"/>
            </a:endParaRPr>
          </a:p>
          <a:p>
            <a:pPr>
              <a:buNone/>
            </a:pPr>
            <a:endParaRPr lang="en-US" sz="2800" dirty="0" smtClean="0">
              <a:solidFill>
                <a:srgbClr val="00B050"/>
              </a:solidFill>
              <a:latin typeface="Times New Roman" pitchFamily="18" charset="0"/>
              <a:cs typeface="Times New Roman" pitchFamily="18" charset="0"/>
            </a:endParaRPr>
          </a:p>
          <a:p>
            <a:r>
              <a:rPr lang="en-US" sz="2800" dirty="0" smtClean="0">
                <a:solidFill>
                  <a:srgbClr val="00B050"/>
                </a:solidFill>
              </a:rPr>
              <a:t>A minimal test suite is a carefully designed set of test cases such that each test case helps detect different errors. This is in contrast to testing using some random input values.</a:t>
            </a:r>
            <a:endParaRPr lang="en-US" sz="2800" dirty="0">
              <a:solidFill>
                <a:srgbClr val="00B050"/>
              </a:solidFill>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5715000" cy="304800"/>
          </a:xfrm>
        </p:spPr>
        <p:txBody>
          <a:bodyPr>
            <a:noAutofit/>
          </a:bodyPr>
          <a:lstStyle/>
          <a:p>
            <a:r>
              <a:rPr lang="en-US" sz="3600" dirty="0" smtClean="0">
                <a:solidFill>
                  <a:srgbClr val="FF0000"/>
                </a:solidFill>
                <a:latin typeface="Times New Roman" pitchFamily="18" charset="0"/>
                <a:cs typeface="Times New Roman" pitchFamily="18" charset="0"/>
              </a:rPr>
              <a:t>Why Design Test Cases?</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609600"/>
            <a:ext cx="8686800" cy="6019800"/>
          </a:xfrm>
        </p:spPr>
        <p:txBody>
          <a:bodyPr>
            <a:normAutofit lnSpcReduction="10000"/>
          </a:bodyPr>
          <a:lstStyle/>
          <a:p>
            <a:r>
              <a:rPr lang="en-US" sz="2800" dirty="0" smtClean="0">
                <a:latin typeface="Times New Roman" pitchFamily="18" charset="0"/>
                <a:cs typeface="Times New Roman" pitchFamily="18" charset="0"/>
              </a:rPr>
              <a:t>There are essentially two main approaches to systematically design test cases:</a:t>
            </a:r>
          </a:p>
          <a:p>
            <a:pPr lvl="1"/>
            <a:r>
              <a:rPr lang="en-US" dirty="0" smtClean="0">
                <a:latin typeface="Times New Roman" pitchFamily="18" charset="0"/>
                <a:cs typeface="Times New Roman" pitchFamily="18" charset="0"/>
              </a:rPr>
              <a:t>Black-box approach</a:t>
            </a:r>
          </a:p>
          <a:p>
            <a:pPr lvl="1"/>
            <a:r>
              <a:rPr lang="en-US" dirty="0" smtClean="0">
                <a:latin typeface="Times New Roman" pitchFamily="18" charset="0"/>
                <a:cs typeface="Times New Roman" pitchFamily="18" charset="0"/>
              </a:rPr>
              <a:t>White-box (or glass-box) approach</a:t>
            </a:r>
          </a:p>
          <a:p>
            <a:r>
              <a:rPr lang="en-US" sz="2800" b="1" dirty="0" smtClean="0">
                <a:latin typeface="Times New Roman" pitchFamily="18" charset="0"/>
                <a:cs typeface="Times New Roman" pitchFamily="18" charset="0"/>
              </a:rPr>
              <a:t>Testing in the Large versus Testing in the Small:</a:t>
            </a:r>
          </a:p>
          <a:p>
            <a:pPr lvl="1"/>
            <a:r>
              <a:rPr lang="en-US" b="1" dirty="0" smtClean="0">
                <a:solidFill>
                  <a:srgbClr val="FF0000"/>
                </a:solidFill>
                <a:latin typeface="Times New Roman" pitchFamily="18" charset="0"/>
                <a:cs typeface="Times New Roman" pitchFamily="18" charset="0"/>
              </a:rPr>
              <a:t>Unit testing</a:t>
            </a:r>
          </a:p>
          <a:p>
            <a:pPr lvl="1"/>
            <a:r>
              <a:rPr lang="en-US" b="1" dirty="0" smtClean="0">
                <a:solidFill>
                  <a:srgbClr val="FF0000"/>
                </a:solidFill>
                <a:latin typeface="Times New Roman" pitchFamily="18" charset="0"/>
                <a:cs typeface="Times New Roman" pitchFamily="18" charset="0"/>
              </a:rPr>
              <a:t>Integration testing</a:t>
            </a:r>
          </a:p>
          <a:p>
            <a:pPr lvl="1"/>
            <a:r>
              <a:rPr lang="en-US" b="1" dirty="0" smtClean="0">
                <a:solidFill>
                  <a:srgbClr val="FF0000"/>
                </a:solidFill>
                <a:latin typeface="Times New Roman" pitchFamily="18" charset="0"/>
                <a:cs typeface="Times New Roman" pitchFamily="18" charset="0"/>
              </a:rPr>
              <a:t>System testing</a:t>
            </a:r>
          </a:p>
          <a:p>
            <a:r>
              <a:rPr lang="en-US" sz="2800" dirty="0" smtClean="0">
                <a:latin typeface="Times New Roman" pitchFamily="18" charset="0"/>
                <a:cs typeface="Times New Roman" pitchFamily="18" charset="0"/>
              </a:rPr>
              <a:t>During unit testing, the individual functions (or units) of a program are tested.</a:t>
            </a:r>
          </a:p>
          <a:p>
            <a:r>
              <a:rPr lang="en-US" sz="2800" dirty="0" smtClean="0">
                <a:solidFill>
                  <a:srgbClr val="FF0000"/>
                </a:solidFill>
                <a:latin typeface="Times New Roman" pitchFamily="18" charset="0"/>
                <a:cs typeface="Times New Roman" pitchFamily="18" charset="0"/>
              </a:rPr>
              <a:t>Unit testing is referred to as testing in the small, whereas integration and system testing are referred to as testing in the large.</a:t>
            </a:r>
            <a:endParaRPr lang="en-US" sz="2800" b="1" dirty="0">
              <a:solidFill>
                <a:srgbClr val="FF0000"/>
              </a:solidFill>
              <a:latin typeface="Times New Roman" pitchFamily="18" charset="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5715000" cy="304800"/>
          </a:xfrm>
        </p:spPr>
        <p:txBody>
          <a:bodyPr>
            <a:noAutofit/>
          </a:bodyPr>
          <a:lstStyle/>
          <a:p>
            <a:r>
              <a:rPr lang="en-US" sz="3600" dirty="0" smtClean="0">
                <a:solidFill>
                  <a:srgbClr val="FF0000"/>
                </a:solidFill>
                <a:latin typeface="Times New Roman" pitchFamily="18" charset="0"/>
                <a:cs typeface="Times New Roman" pitchFamily="18" charset="0"/>
              </a:rPr>
              <a:t>Why Design Test Cases?</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838200"/>
            <a:ext cx="8686800" cy="5791200"/>
          </a:xfrm>
        </p:spPr>
        <p:txBody>
          <a:bodyPr>
            <a:normAutofit/>
          </a:bodyPr>
          <a:lstStyle/>
          <a:p>
            <a:r>
              <a:rPr lang="en-US" sz="2800" dirty="0" smtClean="0">
                <a:latin typeface="Times New Roman" pitchFamily="18" charset="0"/>
                <a:cs typeface="Times New Roman" pitchFamily="18" charset="0"/>
              </a:rPr>
              <a:t>After testing all the units individually, the units are slowly integrated and tested after each step of integration (integration testing). </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Finally, the fully integrated system is tested (system testing). Integration and system testing are known as testing in the large.</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Why test each module (unit) in isolation first, then integrate these modules and test, and again test the integrated set of modules.</a:t>
            </a:r>
            <a:endParaRPr lang="en-US" sz="2800" b="1"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63562"/>
          </a:xfrm>
        </p:spPr>
        <p:txBody>
          <a:bodyPr>
            <a:noAutofit/>
          </a:bodyPr>
          <a:lstStyle/>
          <a:p>
            <a:r>
              <a:rPr lang="en-US" sz="3600" dirty="0" smtClean="0">
                <a:solidFill>
                  <a:srgbClr val="FF0000"/>
                </a:solidFill>
                <a:latin typeface="Times New Roman" pitchFamily="18" charset="0"/>
                <a:cs typeface="Times New Roman" pitchFamily="18" charset="0"/>
              </a:rPr>
              <a:t>UNIT TESTING</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066800"/>
            <a:ext cx="8686800" cy="5562600"/>
          </a:xfrm>
        </p:spPr>
        <p:txBody>
          <a:bodyPr>
            <a:normAutofit/>
          </a:bodyPr>
          <a:lstStyle/>
          <a:p>
            <a:r>
              <a:rPr lang="en-US" sz="2800" dirty="0" smtClean="0">
                <a:latin typeface="Times New Roman" pitchFamily="18" charset="0"/>
                <a:cs typeface="Times New Roman" pitchFamily="18" charset="0"/>
              </a:rPr>
              <a:t>Unit testing is undertaken after a module has been coded and reviewed.</a:t>
            </a:r>
          </a:p>
          <a:p>
            <a:r>
              <a:rPr lang="en-US" sz="2800" dirty="0" smtClean="0">
                <a:latin typeface="Times New Roman" pitchFamily="18" charset="0"/>
                <a:cs typeface="Times New Roman" pitchFamily="18" charset="0"/>
              </a:rPr>
              <a:t>This activity is typically undertaken by the coder of the module himself in the coding phase.</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Before carrying out unit testing, the unit test cases have to be designed and the test environment for the unit under test has to be developed.</a:t>
            </a:r>
          </a:p>
          <a:p>
            <a:r>
              <a:rPr lang="en-US" sz="2800" dirty="0" smtClean="0">
                <a:latin typeface="Times New Roman" pitchFamily="18" charset="0"/>
                <a:cs typeface="Times New Roman" pitchFamily="18" charset="0"/>
              </a:rPr>
              <a:t>The environment needed to perform unit testing.</a:t>
            </a:r>
          </a:p>
          <a:p>
            <a:endParaRPr lang="en-US" sz="2800" dirty="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63562"/>
          </a:xfrm>
        </p:spPr>
        <p:txBody>
          <a:bodyPr>
            <a:noAutofit/>
          </a:bodyPr>
          <a:lstStyle/>
          <a:p>
            <a:r>
              <a:rPr lang="en-US" sz="3600" dirty="0" smtClean="0">
                <a:solidFill>
                  <a:srgbClr val="FF0000"/>
                </a:solidFill>
                <a:latin typeface="Times New Roman" pitchFamily="18" charset="0"/>
                <a:cs typeface="Times New Roman" pitchFamily="18" charset="0"/>
              </a:rPr>
              <a:t>UNIT TESTING</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838200"/>
            <a:ext cx="8686800" cy="5791200"/>
          </a:xfrm>
        </p:spPr>
        <p:txBody>
          <a:bodyPr>
            <a:normAutofit/>
          </a:bodyPr>
          <a:lstStyle/>
          <a:p>
            <a:pPr>
              <a:buNone/>
            </a:pPr>
            <a:r>
              <a:rPr lang="en-US" sz="2800" b="1" dirty="0" smtClean="0">
                <a:latin typeface="Times New Roman" pitchFamily="18" charset="0"/>
                <a:cs typeface="Times New Roman" pitchFamily="18" charset="0"/>
              </a:rPr>
              <a:t>Driver and stub modules:</a:t>
            </a:r>
          </a:p>
          <a:p>
            <a:r>
              <a:rPr lang="en-US" sz="2800" dirty="0" smtClean="0">
                <a:latin typeface="Times New Roman" pitchFamily="18" charset="0"/>
                <a:cs typeface="Times New Roman" pitchFamily="18" charset="0"/>
              </a:rPr>
              <a:t>In order to test a single module, we need a complete environment to provide all relevant code that is necessary for execution of the module.</a:t>
            </a:r>
          </a:p>
          <a:p>
            <a:endParaRPr lang="en-US" sz="28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2"/>
          <a:srcRect/>
          <a:stretch>
            <a:fillRect/>
          </a:stretch>
        </p:blipFill>
        <p:spPr bwMode="auto">
          <a:xfrm>
            <a:off x="304800" y="3276600"/>
            <a:ext cx="8458200" cy="192405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63562"/>
          </a:xfrm>
        </p:spPr>
        <p:txBody>
          <a:bodyPr>
            <a:noAutofit/>
          </a:bodyPr>
          <a:lstStyle/>
          <a:p>
            <a:r>
              <a:rPr lang="en-US" sz="3600" dirty="0" smtClean="0">
                <a:solidFill>
                  <a:srgbClr val="FF0000"/>
                </a:solidFill>
                <a:latin typeface="Times New Roman" pitchFamily="18" charset="0"/>
                <a:cs typeface="Times New Roman" pitchFamily="18" charset="0"/>
              </a:rPr>
              <a:t>UNIT TESTING</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066800"/>
            <a:ext cx="8686800" cy="4800600"/>
          </a:xfrm>
        </p:spPr>
        <p:txBody>
          <a:bodyPr>
            <a:normAutofit/>
          </a:bodyPr>
          <a:lstStyle/>
          <a:p>
            <a:pPr>
              <a:buNone/>
            </a:pPr>
            <a:r>
              <a:rPr lang="en-US" sz="2800" b="1" dirty="0" smtClean="0">
                <a:latin typeface="Times New Roman" pitchFamily="18" charset="0"/>
                <a:cs typeface="Times New Roman" pitchFamily="18" charset="0"/>
              </a:rPr>
              <a:t>Stub: </a:t>
            </a:r>
            <a:r>
              <a:rPr lang="en-US" sz="2800" dirty="0" smtClean="0">
                <a:latin typeface="Times New Roman" pitchFamily="18" charset="0"/>
                <a:cs typeface="Times New Roman" pitchFamily="18" charset="0"/>
              </a:rPr>
              <a:t>The role of stub and driver modules is pictorially shown in Figure 10.3.</a:t>
            </a:r>
          </a:p>
          <a:p>
            <a:pPr>
              <a:buFont typeface="Wingdings" pitchFamily="2" charset="2"/>
              <a:buChar char="§"/>
            </a:pPr>
            <a:r>
              <a:rPr lang="en-US" sz="2800" dirty="0" smtClean="0">
                <a:latin typeface="Times New Roman" pitchFamily="18" charset="0"/>
                <a:cs typeface="Times New Roman" pitchFamily="18" charset="0"/>
              </a:rPr>
              <a:t> A stub procedure is a dummy procedure that has the same I/O parameters as the function called by the unit under test but has a highly simplified behavior.</a:t>
            </a:r>
          </a:p>
          <a:p>
            <a:r>
              <a:rPr lang="en-US" sz="2800" dirty="0" smtClean="0">
                <a:latin typeface="Times New Roman" pitchFamily="18" charset="0"/>
                <a:cs typeface="Times New Roman" pitchFamily="18" charset="0"/>
              </a:rPr>
              <a:t>For example, a stub procedure may produce the expected behavior using a simple table look up mechanism.</a:t>
            </a:r>
            <a:endParaRPr lang="en-US" sz="2800" dirty="0">
              <a:latin typeface="Times New Roman" pitchFamily="18" charset="0"/>
              <a:cs typeface="Times New Roman"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63562"/>
          </a:xfrm>
        </p:spPr>
        <p:txBody>
          <a:bodyPr>
            <a:noAutofit/>
          </a:bodyPr>
          <a:lstStyle/>
          <a:p>
            <a:r>
              <a:rPr lang="en-US" sz="3600" dirty="0" smtClean="0">
                <a:solidFill>
                  <a:srgbClr val="FF0000"/>
                </a:solidFill>
                <a:latin typeface="Times New Roman" pitchFamily="18" charset="0"/>
                <a:cs typeface="Times New Roman" pitchFamily="18" charset="0"/>
              </a:rPr>
              <a:t>UNIT TESTING</a:t>
            </a:r>
            <a:endParaRPr lang="en-US" sz="3600" dirty="0">
              <a:solidFill>
                <a:srgbClr val="FF0000"/>
              </a:solidFill>
              <a:latin typeface="Times New Roman" pitchFamily="18" charset="0"/>
              <a:cs typeface="Times New Roman" pitchFamily="18" charset="0"/>
            </a:endParaRPr>
          </a:p>
        </p:txBody>
      </p:sp>
      <p:sp>
        <p:nvSpPr>
          <p:cNvPr id="6" name="Content Placeholder 5"/>
          <p:cNvSpPr>
            <a:spLocks noGrp="1"/>
          </p:cNvSpPr>
          <p:nvPr>
            <p:ph idx="1"/>
          </p:nvPr>
        </p:nvSpPr>
        <p:spPr>
          <a:xfrm>
            <a:off x="152400" y="762000"/>
            <a:ext cx="8763000" cy="5943600"/>
          </a:xfrm>
        </p:spPr>
        <p:txBody>
          <a:bodyPr>
            <a:normAutofit/>
          </a:bodyPr>
          <a:lstStyle/>
          <a:p>
            <a:pPr>
              <a:buNone/>
            </a:pPr>
            <a:r>
              <a:rPr lang="en-US" sz="2400" b="1" dirty="0" smtClean="0">
                <a:latin typeface="Times New Roman" pitchFamily="18" charset="0"/>
                <a:cs typeface="Times New Roman" pitchFamily="18" charset="0"/>
              </a:rPr>
              <a:t>Driver: </a:t>
            </a:r>
            <a:r>
              <a:rPr lang="en-US" sz="2400" dirty="0" smtClean="0">
                <a:latin typeface="Times New Roman" pitchFamily="18" charset="0"/>
                <a:cs typeface="Times New Roman" pitchFamily="18" charset="0"/>
              </a:rPr>
              <a:t>A driver module should contain the non-local data structures accessed by the module under test. Additionally, it should also have the code to call the different functions of the unit under test with appropriate parameter values for testing.</a:t>
            </a:r>
            <a:endParaRPr lang="en-US" sz="2400" dirty="0">
              <a:latin typeface="Times New Roman" pitchFamily="18" charset="0"/>
              <a:cs typeface="Times New Roman" pitchFamily="18" charset="0"/>
            </a:endParaRPr>
          </a:p>
        </p:txBody>
      </p:sp>
      <p:pic>
        <p:nvPicPr>
          <p:cNvPr id="11268" name="Picture 4"/>
          <p:cNvPicPr>
            <a:picLocks noChangeAspect="1" noChangeArrowheads="1"/>
          </p:cNvPicPr>
          <p:nvPr/>
        </p:nvPicPr>
        <p:blipFill>
          <a:blip r:embed="rId2"/>
          <a:srcRect/>
          <a:stretch>
            <a:fillRect/>
          </a:stretch>
        </p:blipFill>
        <p:spPr bwMode="auto">
          <a:xfrm>
            <a:off x="1143000" y="2514600"/>
            <a:ext cx="6867525" cy="3857625"/>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DELL\Desktop\getty_469566889_105923.jpg"/>
          <p:cNvPicPr>
            <a:picLocks noGrp="1" noChangeAspect="1" noChangeArrowheads="1"/>
          </p:cNvPicPr>
          <p:nvPr>
            <p:ph idx="1"/>
          </p:nvPr>
        </p:nvPicPr>
        <p:blipFill>
          <a:blip r:embed="rId2"/>
          <a:srcRect/>
          <a:stretch>
            <a:fillRect/>
          </a:stretch>
        </p:blipFill>
        <p:spPr bwMode="auto">
          <a:xfrm>
            <a:off x="457200" y="685800"/>
            <a:ext cx="8229600" cy="5162509"/>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TotalTime>
  <Words>2419</Words>
  <Application>Microsoft Office PowerPoint</Application>
  <PresentationFormat>On-screen Show (4:3)</PresentationFormat>
  <Paragraphs>246</Paragraphs>
  <Slides>49</Slides>
  <Notes>0</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Unit-4</vt:lpstr>
      <vt:lpstr>Slide 2</vt:lpstr>
      <vt:lpstr>Implementation </vt:lpstr>
      <vt:lpstr>Implementation </vt:lpstr>
      <vt:lpstr>Implementation </vt:lpstr>
      <vt:lpstr>Implementation </vt:lpstr>
      <vt:lpstr>Implementation </vt:lpstr>
      <vt:lpstr>Implementation </vt:lpstr>
      <vt:lpstr>Coding Standard and Guidelines </vt:lpstr>
      <vt:lpstr>Coding Standard and Guidelines </vt:lpstr>
      <vt:lpstr>Coding Standard and Guidelines </vt:lpstr>
      <vt:lpstr>Coding Standard and Guidelines </vt:lpstr>
      <vt:lpstr>Coding Standard and Guidelines </vt:lpstr>
      <vt:lpstr>Coding Standard and Guidelines </vt:lpstr>
      <vt:lpstr>Coding Standard and Guidelines </vt:lpstr>
      <vt:lpstr>Coding Standard and Guidelines </vt:lpstr>
      <vt:lpstr>Coding Standard and Guidelines </vt:lpstr>
      <vt:lpstr>Coding Standard and Guidelines </vt:lpstr>
      <vt:lpstr>Coding Standard and Guidelines </vt:lpstr>
      <vt:lpstr>CODE REVIEW</vt:lpstr>
      <vt:lpstr>CODE REVIEW</vt:lpstr>
      <vt:lpstr>CODE REVIEW</vt:lpstr>
      <vt:lpstr>CODE REVIEW</vt:lpstr>
      <vt:lpstr>CODE REVIEW</vt:lpstr>
      <vt:lpstr>CODE REVIEW</vt:lpstr>
      <vt:lpstr>SOFTWARE DOCUMENTATION</vt:lpstr>
      <vt:lpstr>SOFTWARE DOCUMENTATION</vt:lpstr>
      <vt:lpstr>SOFTWARE DOCUMENTATION</vt:lpstr>
      <vt:lpstr>External Documentation</vt:lpstr>
      <vt:lpstr>External Documentation</vt:lpstr>
      <vt:lpstr>Gunning’s fog index </vt:lpstr>
      <vt:lpstr>TESTING</vt:lpstr>
      <vt:lpstr>Terminologies</vt:lpstr>
      <vt:lpstr>Terminologies</vt:lpstr>
      <vt:lpstr>Verification versus validation</vt:lpstr>
      <vt:lpstr>Verification versus validation</vt:lpstr>
      <vt:lpstr>Verification versus validation</vt:lpstr>
      <vt:lpstr>Verification versus validation</vt:lpstr>
      <vt:lpstr>Verification versus validation</vt:lpstr>
      <vt:lpstr>Testing Activities</vt:lpstr>
      <vt:lpstr>Testing Activities</vt:lpstr>
      <vt:lpstr>Why Design Test Cases?</vt:lpstr>
      <vt:lpstr>Why Design Test Cases?</vt:lpstr>
      <vt:lpstr>Why Design Test Cases?</vt:lpstr>
      <vt:lpstr>UNIT TESTING</vt:lpstr>
      <vt:lpstr>UNIT TESTING</vt:lpstr>
      <vt:lpstr>UNIT TESTING</vt:lpstr>
      <vt:lpstr>UNIT TESTING</vt:lpstr>
      <vt:lpstr>Slide 49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Unit-4</dc:title>
  <dc:creator>bujji</dc:creator>
  <cp:lastModifiedBy>DELL</cp:lastModifiedBy>
  <cp:revision>143</cp:revision>
  <dcterms:created xsi:type="dcterms:W3CDTF">2006-08-16T00:00:00Z</dcterms:created>
  <dcterms:modified xsi:type="dcterms:W3CDTF">2019-03-05T10:39:39Z</dcterms:modified>
</cp:coreProperties>
</file>